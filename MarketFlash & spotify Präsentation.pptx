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Montserrat"/>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66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665"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Lato-regular.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d2f69689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d2f69689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Good morning/afternoon, everyone, my Name is Anatolij. I got the pleasure to create the Business Intelligence Solution for Market Flash and Spotify.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Market Flash </a:t>
            </a:r>
            <a:r>
              <a:rPr lang="de"/>
              <a:t>provides</a:t>
            </a:r>
            <a:r>
              <a:rPr lang="de"/>
              <a:t> social media marketing, manages advertising </a:t>
            </a:r>
            <a:r>
              <a:rPr lang="de"/>
              <a:t>campaigns</a:t>
            </a:r>
            <a:r>
              <a:rPr lang="de"/>
              <a:t>,influencers and performance analytics.  Markus the owner of Maktet Flash had contacted us and said “Hey, our Data is growing and we can’t manage it in our </a:t>
            </a:r>
            <a:r>
              <a:rPr lang="de"/>
              <a:t>spreadsheets</a:t>
            </a:r>
            <a:r>
              <a:rPr lang="de"/>
              <a:t> anymore”.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c24d3d74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c24d3d74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solidFill>
                  <a:schemeClr val="dk1"/>
                </a:solidFill>
              </a:rPr>
              <a:t>After a few </a:t>
            </a:r>
            <a:r>
              <a:rPr lang="de" sz="1200">
                <a:solidFill>
                  <a:srgbClr val="0A0A0A"/>
                </a:solidFill>
                <a:highlight>
                  <a:srgbClr val="F0F2F5"/>
                </a:highlight>
              </a:rPr>
              <a:t>successful </a:t>
            </a:r>
            <a:r>
              <a:rPr lang="de">
                <a:solidFill>
                  <a:schemeClr val="dk1"/>
                </a:solidFill>
              </a:rPr>
              <a:t>Sessions with Markus. I was able to create this Entity Relationship Diagram.</a:t>
            </a:r>
            <a:endParaRPr>
              <a:solidFill>
                <a:schemeClr val="dk1"/>
              </a:solidFill>
            </a:endParaRPr>
          </a:p>
          <a:p>
            <a:pPr indent="0" lvl="0" marL="0" rtl="0" algn="l">
              <a:spcBef>
                <a:spcPts val="0"/>
              </a:spcBef>
              <a:spcAft>
                <a:spcPts val="0"/>
              </a:spcAft>
              <a:buNone/>
            </a:pPr>
            <a:r>
              <a:rPr lang="de" sz="1200">
                <a:solidFill>
                  <a:srgbClr val="0A0A0A"/>
                </a:solidFill>
                <a:highlight>
                  <a:srgbClr val="F0F2F5"/>
                </a:highlight>
              </a:rPr>
              <a:t>Market Flash runs campaigns for clients on platforms with advertisements, manages employees, influencers, and content, tracks metrics, and handles payment transactions.</a:t>
            </a:r>
            <a:endParaRPr>
              <a:solidFill>
                <a:schemeClr val="dk1"/>
              </a:solidFill>
            </a:endParaRPr>
          </a:p>
          <a:p>
            <a:pPr indent="0" lvl="0" marL="0" rtl="0" algn="l">
              <a:spcBef>
                <a:spcPts val="0"/>
              </a:spcBef>
              <a:spcAft>
                <a:spcPts val="0"/>
              </a:spcAft>
              <a:buClr>
                <a:schemeClr val="dk1"/>
              </a:buClr>
              <a:buSzPts val="1100"/>
              <a:buFont typeface="Arial"/>
              <a:buNone/>
            </a:pPr>
            <a:r>
              <a:rPr lang="de" sz="1200">
                <a:solidFill>
                  <a:srgbClr val="0A0A0A"/>
                </a:solidFill>
                <a:highlight>
                  <a:srgbClr val="F0F2F5"/>
                </a:highlight>
              </a:rPr>
              <a:t>At this point it became clear that resolving thIs two many-to-many relationships would be necessary in the next phase.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c3536126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cc3536126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200">
                <a:solidFill>
                  <a:srgbClr val="0A0A0A"/>
                </a:solidFill>
                <a:highlight>
                  <a:srgbClr val="F0F2F5"/>
                </a:highlight>
              </a:rPr>
              <a:t>In the next phase, the </a:t>
            </a:r>
            <a:r>
              <a:rPr b="1" lang="de" sz="1200">
                <a:solidFill>
                  <a:srgbClr val="0A0A0A"/>
                </a:solidFill>
                <a:highlight>
                  <a:srgbClr val="F0F2F5"/>
                </a:highlight>
              </a:rPr>
              <a:t>functional diagram</a:t>
            </a:r>
            <a:r>
              <a:rPr lang="de" sz="1200">
                <a:solidFill>
                  <a:srgbClr val="0A0A0A"/>
                </a:solidFill>
                <a:highlight>
                  <a:srgbClr val="F0F2F5"/>
                </a:highlight>
              </a:rPr>
              <a:t> was created. The Datatypes were asinged the keys were defined as well further constains. The two </a:t>
            </a:r>
            <a:r>
              <a:rPr b="1" lang="de" sz="1200">
                <a:solidFill>
                  <a:srgbClr val="0A0A0A"/>
                </a:solidFill>
                <a:highlight>
                  <a:srgbClr val="F0F2F5"/>
                </a:highlight>
              </a:rPr>
              <a:t>m:n relationships</a:t>
            </a:r>
            <a:r>
              <a:rPr lang="de" sz="1200">
                <a:solidFill>
                  <a:srgbClr val="0A0A0A"/>
                </a:solidFill>
                <a:highlight>
                  <a:srgbClr val="F0F2F5"/>
                </a:highlight>
              </a:rPr>
              <a:t> were resolved using these two </a:t>
            </a:r>
            <a:r>
              <a:rPr b="1" lang="de" sz="1200">
                <a:solidFill>
                  <a:srgbClr val="0A0A0A"/>
                </a:solidFill>
                <a:highlight>
                  <a:srgbClr val="F0F2F5"/>
                </a:highlight>
              </a:rPr>
              <a:t>bridge tables</a:t>
            </a:r>
            <a:r>
              <a:rPr lang="de" sz="1200">
                <a:solidFill>
                  <a:srgbClr val="0A0A0A"/>
                </a:solidFill>
                <a:highlight>
                  <a:srgbClr val="F0F2F5"/>
                </a:highlight>
              </a:rPr>
              <a:t>. </a:t>
            </a:r>
            <a:endParaRPr sz="1200">
              <a:solidFill>
                <a:srgbClr val="0A0A0A"/>
              </a:solidFill>
              <a:highlight>
                <a:srgbClr val="F0F2F5"/>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d2f69689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d2f69689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200">
                <a:solidFill>
                  <a:srgbClr val="0A0A0A"/>
                </a:solidFill>
                <a:highlight>
                  <a:srgbClr val="F0F2F5"/>
                </a:highlight>
              </a:rPr>
              <a:t>Following the functional diagram, the </a:t>
            </a:r>
            <a:r>
              <a:rPr b="1" lang="de" sz="1200">
                <a:solidFill>
                  <a:srgbClr val="0A0A0A"/>
                </a:solidFill>
                <a:highlight>
                  <a:srgbClr val="F0F2F5"/>
                </a:highlight>
              </a:rPr>
              <a:t>database</a:t>
            </a:r>
            <a:r>
              <a:rPr lang="de" sz="1200">
                <a:solidFill>
                  <a:srgbClr val="0A0A0A"/>
                </a:solidFill>
                <a:highlight>
                  <a:srgbClr val="F0F2F5"/>
                </a:highlight>
              </a:rPr>
              <a:t> was created. </a:t>
            </a:r>
            <a:endParaRPr sz="1200">
              <a:solidFill>
                <a:srgbClr val="0A0A0A"/>
              </a:solidFill>
              <a:highlight>
                <a:srgbClr val="F0F2F5"/>
              </a:highlight>
            </a:endParaRPr>
          </a:p>
          <a:p>
            <a:pPr indent="0" lvl="0" marL="0" rtl="0" algn="l">
              <a:spcBef>
                <a:spcPts val="0"/>
              </a:spcBef>
              <a:spcAft>
                <a:spcPts val="0"/>
              </a:spcAft>
              <a:buNone/>
            </a:pPr>
            <a:r>
              <a:rPr lang="de" sz="1200">
                <a:solidFill>
                  <a:srgbClr val="0A0A0A"/>
                </a:solidFill>
              </a:rPr>
              <a:t>To be able to establish the relationships, it was important to create the tables in the right order. </a:t>
            </a:r>
            <a:r>
              <a:rPr lang="de" sz="1200">
                <a:solidFill>
                  <a:srgbClr val="0A0A0A"/>
                </a:solidFill>
              </a:rPr>
              <a:t>Firstly</a:t>
            </a:r>
            <a:r>
              <a:rPr lang="de" sz="1200">
                <a:solidFill>
                  <a:srgbClr val="0A0A0A"/>
                </a:solidFill>
              </a:rPr>
              <a:t> the Dimetion Tables (like Client, Employees)  had to be created, secondly Campang Table as the FactTable with the </a:t>
            </a:r>
            <a:r>
              <a:rPr lang="de" sz="1200">
                <a:solidFill>
                  <a:srgbClr val="0A0A0A"/>
                </a:solidFill>
              </a:rPr>
              <a:t>highest</a:t>
            </a:r>
            <a:r>
              <a:rPr lang="de" sz="1200">
                <a:solidFill>
                  <a:srgbClr val="0A0A0A"/>
                </a:solidFill>
              </a:rPr>
              <a:t> granularity </a:t>
            </a:r>
            <a:r>
              <a:rPr lang="de" sz="1200">
                <a:solidFill>
                  <a:srgbClr val="0A0A0A"/>
                </a:solidFill>
              </a:rPr>
              <a:t>had to be created  </a:t>
            </a:r>
            <a:r>
              <a:rPr lang="de" sz="1200">
                <a:solidFill>
                  <a:srgbClr val="0A0A0A"/>
                </a:solidFill>
              </a:rPr>
              <a:t>and lastly the PaymentsTable as the FactTable with the lowest granularity. After Database was created and the Data were inserted, i have tested the Database with this </a:t>
            </a:r>
            <a:r>
              <a:rPr lang="de" sz="1200">
                <a:solidFill>
                  <a:srgbClr val="0A0A0A"/>
                </a:solidFill>
              </a:rPr>
              <a:t>Queries, each table was used and had delivered proper results.  </a:t>
            </a:r>
            <a:r>
              <a:rPr lang="de" sz="1200">
                <a:solidFill>
                  <a:srgbClr val="0A0A0A"/>
                </a:solidFill>
              </a:rPr>
              <a:t>  </a:t>
            </a:r>
            <a:endParaRPr sz="1200">
              <a:solidFill>
                <a:srgbClr val="0A0A0A"/>
              </a:solidFill>
            </a:endParaRPr>
          </a:p>
          <a:p>
            <a:pPr indent="0" lvl="0" marL="0" rtl="0" algn="l">
              <a:spcBef>
                <a:spcPts val="0"/>
              </a:spcBef>
              <a:spcAft>
                <a:spcPts val="0"/>
              </a:spcAft>
              <a:buNone/>
            </a:pPr>
            <a:r>
              <a:t/>
            </a:r>
            <a:endParaRPr sz="1200">
              <a:solidFill>
                <a:srgbClr val="0A0A0A"/>
              </a:solidFill>
              <a:highlight>
                <a:srgbClr val="F0F2F5"/>
              </a:highlight>
            </a:endParaRPr>
          </a:p>
          <a:p>
            <a:pPr indent="0" lvl="0" marL="0" rtl="0" algn="l">
              <a:spcBef>
                <a:spcPts val="0"/>
              </a:spcBef>
              <a:spcAft>
                <a:spcPts val="0"/>
              </a:spcAft>
              <a:buNone/>
            </a:pPr>
            <a:r>
              <a:rPr lang="de" sz="1200">
                <a:solidFill>
                  <a:srgbClr val="0A0A0A"/>
                </a:solidFill>
                <a:highlight>
                  <a:srgbClr val="F0F2F5"/>
                </a:highlight>
              </a:rPr>
              <a:t>A database offers high </a:t>
            </a:r>
            <a:r>
              <a:rPr b="1" lang="de" sz="1200">
                <a:solidFill>
                  <a:srgbClr val="0A0A0A"/>
                </a:solidFill>
                <a:highlight>
                  <a:srgbClr val="F0F2F5"/>
                </a:highlight>
              </a:rPr>
              <a:t>scalybility</a:t>
            </a:r>
            <a:r>
              <a:rPr lang="de" sz="1200">
                <a:solidFill>
                  <a:srgbClr val="0A0A0A"/>
                </a:solidFill>
                <a:highlight>
                  <a:srgbClr val="F0F2F5"/>
                </a:highlight>
              </a:rPr>
              <a:t>, allowing for easy extension of existing data and the addition of new entities. </a:t>
            </a:r>
            <a:endParaRPr sz="1200">
              <a:solidFill>
                <a:srgbClr val="0A0A0A"/>
              </a:solidFill>
              <a:highlight>
                <a:srgbClr val="F0F2F5"/>
              </a:highlight>
            </a:endParaRPr>
          </a:p>
          <a:p>
            <a:pPr indent="0" lvl="0" marL="0" rtl="0" algn="l">
              <a:spcBef>
                <a:spcPts val="0"/>
              </a:spcBef>
              <a:spcAft>
                <a:spcPts val="0"/>
              </a:spcAft>
              <a:buNone/>
            </a:pPr>
            <a:r>
              <a:rPr lang="de" sz="1200">
                <a:solidFill>
                  <a:srgbClr val="0A0A0A"/>
                </a:solidFill>
                <a:highlight>
                  <a:srgbClr val="F0F2F5"/>
                </a:highlight>
              </a:rPr>
              <a:t>For analytics, the database allows </a:t>
            </a:r>
            <a:r>
              <a:rPr b="1" lang="de" sz="1200">
                <a:solidFill>
                  <a:srgbClr val="0A0A0A"/>
                </a:solidFill>
                <a:highlight>
                  <a:srgbClr val="F0F2F5"/>
                </a:highlight>
              </a:rPr>
              <a:t>tailored retrieval</a:t>
            </a:r>
            <a:r>
              <a:rPr lang="de" sz="1200">
                <a:solidFill>
                  <a:srgbClr val="0A0A0A"/>
                </a:solidFill>
                <a:highlight>
                  <a:srgbClr val="F0F2F5"/>
                </a:highlight>
              </a:rPr>
              <a:t> of specific data, which is essential for </a:t>
            </a:r>
            <a:r>
              <a:rPr b="1" lang="de" sz="1200">
                <a:solidFill>
                  <a:srgbClr val="0A0A0A"/>
                </a:solidFill>
                <a:highlight>
                  <a:srgbClr val="F0F2F5"/>
                </a:highlight>
              </a:rPr>
              <a:t>high-performance reporting</a:t>
            </a:r>
            <a:r>
              <a:rPr lang="de" sz="1200">
                <a:solidFill>
                  <a:srgbClr val="0A0A0A"/>
                </a:solidFill>
                <a:highlight>
                  <a:srgbClr val="F0F2F5"/>
                </a:highlight>
              </a:rPr>
              <a:t>.</a:t>
            </a:r>
            <a:endParaRPr sz="1200">
              <a:solidFill>
                <a:srgbClr val="0A0A0A"/>
              </a:solidFill>
              <a:highlight>
                <a:srgbClr val="F0F2F5"/>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c3536126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cc3536126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b62311c1c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cb62311c1c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1200">
                <a:solidFill>
                  <a:srgbClr val="0A0A0A"/>
                </a:solidFill>
                <a:highlight>
                  <a:srgbClr val="F0F2F5"/>
                </a:highlight>
              </a:rPr>
              <a:t>In</a:t>
            </a:r>
            <a:r>
              <a:rPr lang="de" sz="1200">
                <a:solidFill>
                  <a:srgbClr val="0A0A0A"/>
                </a:solidFill>
                <a:highlight>
                  <a:srgbClr val="F0F2F5"/>
                </a:highlight>
              </a:rPr>
              <a:t> this data </a:t>
            </a:r>
            <a:r>
              <a:rPr b="1" lang="de" sz="1200">
                <a:solidFill>
                  <a:srgbClr val="0A0A0A"/>
                </a:solidFill>
                <a:highlight>
                  <a:srgbClr val="F0F2F5"/>
                </a:highlight>
              </a:rPr>
              <a:t>visualization</a:t>
            </a:r>
            <a:r>
              <a:rPr lang="de" sz="1200">
                <a:solidFill>
                  <a:srgbClr val="0A0A0A"/>
                </a:solidFill>
                <a:highlight>
                  <a:srgbClr val="F0F2F5"/>
                </a:highlight>
              </a:rPr>
              <a:t>, we can see that YouTube is the most expensive </a:t>
            </a:r>
            <a:r>
              <a:rPr b="1" lang="de" sz="1200">
                <a:solidFill>
                  <a:srgbClr val="0A0A0A"/>
                </a:solidFill>
                <a:highlight>
                  <a:srgbClr val="F0F2F5"/>
                </a:highlight>
              </a:rPr>
              <a:t>channel</a:t>
            </a:r>
            <a:r>
              <a:rPr lang="de" sz="1200">
                <a:solidFill>
                  <a:srgbClr val="0A0A0A"/>
                </a:solidFill>
                <a:highlight>
                  <a:srgbClr val="F0F2F5"/>
                </a:highlight>
              </a:rPr>
              <a:t> with </a:t>
            </a:r>
            <a:r>
              <a:rPr b="1" lang="de" sz="1200">
                <a:solidFill>
                  <a:srgbClr val="0A0A0A"/>
                </a:solidFill>
                <a:highlight>
                  <a:srgbClr val="F0F2F5"/>
                </a:highlight>
              </a:rPr>
              <a:t>the</a:t>
            </a:r>
            <a:r>
              <a:rPr lang="de" sz="1200">
                <a:solidFill>
                  <a:srgbClr val="0A0A0A"/>
                </a:solidFill>
                <a:highlight>
                  <a:srgbClr val="F0F2F5"/>
                </a:highlight>
              </a:rPr>
              <a:t> lowest </a:t>
            </a:r>
            <a:r>
              <a:rPr b="1" lang="de" sz="1200">
                <a:solidFill>
                  <a:srgbClr val="0A0A0A"/>
                </a:solidFill>
                <a:highlight>
                  <a:srgbClr val="F0F2F5"/>
                </a:highlight>
              </a:rPr>
              <a:t>average conversion rate</a:t>
            </a:r>
            <a:r>
              <a:rPr lang="de" sz="1200">
                <a:solidFill>
                  <a:srgbClr val="0A0A0A"/>
                </a:solidFill>
                <a:highlight>
                  <a:srgbClr val="F0F2F5"/>
                </a:highlight>
              </a:rPr>
              <a:t>, while the cheapest channel (TikTok) has the </a:t>
            </a:r>
            <a:r>
              <a:rPr b="1" lang="de" sz="1200">
                <a:solidFill>
                  <a:srgbClr val="0A0A0A"/>
                </a:solidFill>
                <a:highlight>
                  <a:srgbClr val="F0F2F5"/>
                </a:highlight>
              </a:rPr>
              <a:t>third-best average conversion rate</a:t>
            </a:r>
            <a:r>
              <a:rPr lang="de" sz="1200">
                <a:solidFill>
                  <a:srgbClr val="0A0A0A"/>
                </a:solidFill>
                <a:highlight>
                  <a:srgbClr val="F0F2F5"/>
                </a:highlight>
              </a:rPr>
              <a:t>. </a:t>
            </a:r>
            <a:r>
              <a:rPr b="1" lang="de" sz="1200">
                <a:solidFill>
                  <a:srgbClr val="0A0A0A"/>
                </a:solidFill>
                <a:highlight>
                  <a:srgbClr val="F0F2F5"/>
                </a:highlight>
              </a:rPr>
              <a:t>However, from this perspective</a:t>
            </a:r>
            <a:r>
              <a:rPr lang="de" sz="1200">
                <a:solidFill>
                  <a:srgbClr val="0A0A0A"/>
                </a:solidFill>
                <a:highlight>
                  <a:srgbClr val="F0F2F5"/>
                </a:highlight>
              </a:rPr>
              <a:t>, it is difficult to </a:t>
            </a:r>
            <a:r>
              <a:rPr b="1" lang="de" sz="1200">
                <a:solidFill>
                  <a:srgbClr val="0A0A0A"/>
                </a:solidFill>
                <a:highlight>
                  <a:srgbClr val="F0F2F5"/>
                </a:highlight>
              </a:rPr>
              <a:t>understand</a:t>
            </a:r>
            <a:r>
              <a:rPr lang="de" sz="1200">
                <a:solidFill>
                  <a:srgbClr val="0A0A0A"/>
                </a:solidFill>
                <a:highlight>
                  <a:srgbClr val="F0F2F5"/>
                </a:highlight>
              </a:rPr>
              <a:t> which channel </a:t>
            </a:r>
            <a:r>
              <a:rPr b="1" lang="de" sz="1200">
                <a:solidFill>
                  <a:srgbClr val="0A0A0A"/>
                </a:solidFill>
                <a:highlight>
                  <a:srgbClr val="F0F2F5"/>
                </a:highlight>
              </a:rPr>
              <a:t>performs</a:t>
            </a:r>
            <a:r>
              <a:rPr lang="de" sz="1200">
                <a:solidFill>
                  <a:srgbClr val="0A0A0A"/>
                </a:solidFill>
                <a:highlight>
                  <a:srgbClr val="F0F2F5"/>
                </a:highlight>
              </a:rPr>
              <a:t> best or </a:t>
            </a:r>
            <a:r>
              <a:rPr b="1" lang="de" sz="1200">
                <a:solidFill>
                  <a:srgbClr val="0A0A0A"/>
                </a:solidFill>
                <a:highlight>
                  <a:srgbClr val="FFFFFF"/>
                </a:highlight>
              </a:rPr>
              <a:t>worst.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ba6f0fd7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cba6f0fd7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c3536126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c3536126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cc3536126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cc3536126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200">
                <a:solidFill>
                  <a:srgbClr val="0A0A0A"/>
                </a:solidFill>
                <a:highlight>
                  <a:srgbClr val="FFFFFF"/>
                </a:highlight>
              </a:rPr>
              <a:t>Thats all for MarketFlash. I’m happy to answer any questions you may have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cd2f69689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cd2f69689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Market Flash provides social media marketing, manages advertising campaigns,influencers and performance analytics.  Markus the owner of Maktet Flash had contacted us and said “Hey, our Data is growing and we can’t manage it in our spreadsheets anymore”.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d2f696895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d2f696895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d2f69689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cd2f69689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cd2f69689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cd2f69689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cd2f69689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cd2f69689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d2f69689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d2f69689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cd2f696895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cd2f696895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d2f69689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cd2f69689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200">
                <a:solidFill>
                  <a:srgbClr val="0A0A0A"/>
                </a:solidFill>
                <a:highlight>
                  <a:srgbClr val="FFFFFF"/>
                </a:highlight>
              </a:rPr>
              <a:t>That all for MarketFlash. I’m happy to answer any questions you may have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gradFill>
          <a:gsLst>
            <a:gs pos="0">
              <a:srgbClr val="DDDDDD"/>
            </a:gs>
            <a:gs pos="100000">
              <a:srgbClr val="919191"/>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33" name="Shape 133"/>
        <p:cNvGrpSpPr/>
        <p:nvPr/>
      </p:nvGrpSpPr>
      <p:grpSpPr>
        <a:xfrm>
          <a:off x="0" y="0"/>
          <a:ext cx="0" cy="0"/>
          <a:chOff x="0" y="0"/>
          <a:chExt cx="0" cy="0"/>
        </a:xfrm>
      </p:grpSpPr>
      <p:sp>
        <p:nvSpPr>
          <p:cNvPr id="134" name="Google Shape;134;p13"/>
          <p:cNvSpPr txBox="1"/>
          <p:nvPr>
            <p:ph idx="1" type="subTitle"/>
          </p:nvPr>
        </p:nvSpPr>
        <p:spPr>
          <a:xfrm>
            <a:off x="93675" y="3358800"/>
            <a:ext cx="2581800" cy="613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e" sz="1200">
                <a:highlight>
                  <a:srgbClr val="D9D9D9"/>
                </a:highlight>
                <a:latin typeface="Montserrat"/>
                <a:ea typeface="Montserrat"/>
                <a:cs typeface="Montserrat"/>
                <a:sym typeface="Montserrat"/>
              </a:rPr>
              <a:t>Business Intelligence Solutions by Anatolij Stopp</a:t>
            </a:r>
            <a:endParaRPr>
              <a:highlight>
                <a:srgbClr val="D9D9D9"/>
              </a:highlight>
              <a:latin typeface="Montserrat"/>
              <a:ea typeface="Montserrat"/>
              <a:cs typeface="Montserrat"/>
              <a:sym typeface="Montserrat"/>
            </a:endParaRPr>
          </a:p>
        </p:txBody>
      </p:sp>
      <p:sp>
        <p:nvSpPr>
          <p:cNvPr id="135" name="Google Shape;135;p13"/>
          <p:cNvSpPr txBox="1"/>
          <p:nvPr/>
        </p:nvSpPr>
        <p:spPr>
          <a:xfrm>
            <a:off x="3004500" y="456225"/>
            <a:ext cx="5810700" cy="11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3100">
                <a:solidFill>
                  <a:schemeClr val="lt1"/>
                </a:solidFill>
                <a:latin typeface="Montserrat"/>
                <a:ea typeface="Montserrat"/>
                <a:cs typeface="Montserrat"/>
                <a:sym typeface="Montserrat"/>
              </a:rPr>
              <a:t>Business </a:t>
            </a:r>
            <a:r>
              <a:rPr lang="de" sz="3100">
                <a:solidFill>
                  <a:schemeClr val="lt1"/>
                </a:solidFill>
                <a:latin typeface="Montserrat"/>
                <a:ea typeface="Montserrat"/>
                <a:cs typeface="Montserrat"/>
                <a:sym typeface="Montserrat"/>
              </a:rPr>
              <a:t>Intelligence</a:t>
            </a:r>
            <a:r>
              <a:rPr lang="de" sz="3100">
                <a:solidFill>
                  <a:schemeClr val="lt1"/>
                </a:solidFill>
                <a:latin typeface="Montserrat"/>
                <a:ea typeface="Montserrat"/>
                <a:cs typeface="Montserrat"/>
                <a:sym typeface="Montserrat"/>
              </a:rPr>
              <a:t> </a:t>
            </a:r>
            <a:r>
              <a:rPr lang="de" sz="3100">
                <a:solidFill>
                  <a:schemeClr val="lt1"/>
                </a:solidFill>
                <a:latin typeface="Montserrat"/>
                <a:ea typeface="Montserrat"/>
                <a:cs typeface="Montserrat"/>
                <a:sym typeface="Montserrat"/>
              </a:rPr>
              <a:t>Solutions</a:t>
            </a:r>
            <a:r>
              <a:rPr lang="de" sz="3100">
                <a:solidFill>
                  <a:schemeClr val="lt1"/>
                </a:solidFill>
                <a:latin typeface="Montserrat"/>
                <a:ea typeface="Montserrat"/>
                <a:cs typeface="Montserrat"/>
                <a:sym typeface="Montserrat"/>
              </a:rPr>
              <a:t> for:</a:t>
            </a:r>
            <a:endParaRPr sz="1300">
              <a:solidFill>
                <a:schemeClr val="lt1"/>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a:solidFill>
                <a:schemeClr val="lt1"/>
              </a:solidFill>
              <a:latin typeface="Montserrat"/>
              <a:ea typeface="Montserrat"/>
              <a:cs typeface="Montserrat"/>
              <a:sym typeface="Montserrat"/>
            </a:endParaRPr>
          </a:p>
          <a:p>
            <a:pPr indent="0" lvl="0" marL="914400" rtl="0" algn="l">
              <a:lnSpc>
                <a:spcPct val="150000"/>
              </a:lnSpc>
              <a:spcBef>
                <a:spcPts val="0"/>
              </a:spcBef>
              <a:spcAft>
                <a:spcPts val="0"/>
              </a:spcAft>
              <a:buNone/>
            </a:pPr>
            <a:r>
              <a:t/>
            </a:r>
            <a:endParaRPr sz="1600">
              <a:solidFill>
                <a:schemeClr val="lt1"/>
              </a:solidFill>
              <a:latin typeface="Montserrat"/>
              <a:ea typeface="Montserrat"/>
              <a:cs typeface="Montserrat"/>
              <a:sym typeface="Montserrat"/>
            </a:endParaRPr>
          </a:p>
        </p:txBody>
      </p:sp>
      <p:sp>
        <p:nvSpPr>
          <p:cNvPr id="136" name="Google Shape;136;p13"/>
          <p:cNvSpPr txBox="1"/>
          <p:nvPr/>
        </p:nvSpPr>
        <p:spPr>
          <a:xfrm>
            <a:off x="3199200" y="1766800"/>
            <a:ext cx="2745600" cy="294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rgbClr val="000000"/>
              </a:buClr>
              <a:buSzPts val="1400"/>
              <a:buFont typeface="Arial"/>
              <a:buNone/>
            </a:pPr>
            <a:r>
              <a:rPr lang="de" sz="2000">
                <a:solidFill>
                  <a:schemeClr val="lt1"/>
                </a:solidFill>
                <a:latin typeface="Montserrat"/>
                <a:ea typeface="Montserrat"/>
                <a:cs typeface="Montserrat"/>
                <a:sym typeface="Montserrat"/>
              </a:rPr>
              <a:t>Market Flash</a:t>
            </a:r>
            <a:endParaRPr sz="2000">
              <a:solidFill>
                <a:schemeClr val="lt1"/>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lt1"/>
              </a:buClr>
              <a:buSzPts val="1600"/>
              <a:buFont typeface="Montserrat"/>
              <a:buChar char="●"/>
            </a:pPr>
            <a:r>
              <a:rPr lang="de" sz="1600">
                <a:solidFill>
                  <a:schemeClr val="lt1"/>
                </a:solidFill>
                <a:latin typeface="Montserrat"/>
                <a:ea typeface="Montserrat"/>
                <a:cs typeface="Montserrat"/>
                <a:sym typeface="Montserrat"/>
              </a:rPr>
              <a:t>Entity Relationship Diagram</a:t>
            </a:r>
            <a:endParaRPr sz="1600">
              <a:solidFill>
                <a:schemeClr val="lt1"/>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lt1"/>
              </a:buClr>
              <a:buSzPts val="1600"/>
              <a:buFont typeface="Montserrat"/>
              <a:buChar char="●"/>
            </a:pPr>
            <a:r>
              <a:rPr lang="de" sz="1600">
                <a:solidFill>
                  <a:schemeClr val="lt1"/>
                </a:solidFill>
                <a:latin typeface="Montserrat"/>
                <a:ea typeface="Montserrat"/>
                <a:cs typeface="Montserrat"/>
                <a:sym typeface="Montserrat"/>
              </a:rPr>
              <a:t>Functional Diagram</a:t>
            </a:r>
            <a:endParaRPr sz="1600">
              <a:solidFill>
                <a:schemeClr val="lt1"/>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lt1"/>
              </a:buClr>
              <a:buSzPts val="1600"/>
              <a:buFont typeface="Montserrat"/>
              <a:buChar char="●"/>
            </a:pPr>
            <a:r>
              <a:rPr lang="de" sz="1600">
                <a:solidFill>
                  <a:schemeClr val="lt1"/>
                </a:solidFill>
                <a:latin typeface="Montserrat"/>
                <a:ea typeface="Montserrat"/>
                <a:cs typeface="Montserrat"/>
                <a:sym typeface="Montserrat"/>
              </a:rPr>
              <a:t>Database</a:t>
            </a:r>
            <a:endParaRPr sz="1600">
              <a:solidFill>
                <a:schemeClr val="lt1"/>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lt1"/>
              </a:buClr>
              <a:buSzPts val="1600"/>
              <a:buFont typeface="Montserrat"/>
              <a:buChar char="●"/>
            </a:pPr>
            <a:r>
              <a:rPr lang="de" sz="1600">
                <a:solidFill>
                  <a:schemeClr val="lt1"/>
                </a:solidFill>
                <a:latin typeface="Montserrat"/>
                <a:ea typeface="Montserrat"/>
                <a:cs typeface="Montserrat"/>
                <a:sym typeface="Montserrat"/>
              </a:rPr>
              <a:t>Data Analytics</a:t>
            </a:r>
            <a:endParaRPr sz="1600">
              <a:solidFill>
                <a:schemeClr val="lt1"/>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lt1"/>
              </a:buClr>
              <a:buSzPts val="1600"/>
              <a:buFont typeface="Montserrat"/>
              <a:buChar char="●"/>
            </a:pPr>
            <a:r>
              <a:rPr lang="de" sz="1600">
                <a:solidFill>
                  <a:schemeClr val="lt1"/>
                </a:solidFill>
                <a:latin typeface="Montserrat"/>
                <a:ea typeface="Montserrat"/>
                <a:cs typeface="Montserrat"/>
                <a:sym typeface="Montserrat"/>
              </a:rPr>
              <a:t>Recommendations</a:t>
            </a:r>
            <a:endParaRPr sz="1300">
              <a:solidFill>
                <a:schemeClr val="lt1"/>
              </a:solidFill>
              <a:latin typeface="Lato"/>
              <a:ea typeface="Lato"/>
              <a:cs typeface="Lato"/>
              <a:sym typeface="Lato"/>
            </a:endParaRPr>
          </a:p>
        </p:txBody>
      </p:sp>
      <p:sp>
        <p:nvSpPr>
          <p:cNvPr id="137" name="Google Shape;137;p13"/>
          <p:cNvSpPr txBox="1"/>
          <p:nvPr/>
        </p:nvSpPr>
        <p:spPr>
          <a:xfrm>
            <a:off x="6025025" y="1766800"/>
            <a:ext cx="2873700" cy="2947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de" sz="2000">
                <a:solidFill>
                  <a:schemeClr val="lt1"/>
                </a:solidFill>
                <a:latin typeface="Montserrat"/>
                <a:ea typeface="Montserrat"/>
                <a:cs typeface="Montserrat"/>
                <a:sym typeface="Montserrat"/>
              </a:rPr>
              <a:t>spotify</a:t>
            </a:r>
            <a:endParaRPr sz="2000">
              <a:solidFill>
                <a:schemeClr val="lt1"/>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lt1"/>
              </a:buClr>
              <a:buSzPts val="1600"/>
              <a:buFont typeface="Montserrat"/>
              <a:buChar char="●"/>
            </a:pPr>
            <a:r>
              <a:rPr lang="de" sz="1600">
                <a:solidFill>
                  <a:schemeClr val="lt1"/>
                </a:solidFill>
                <a:latin typeface="Montserrat"/>
                <a:ea typeface="Montserrat"/>
                <a:cs typeface="Montserrat"/>
                <a:sym typeface="Montserrat"/>
              </a:rPr>
              <a:t>Strategic Dashboard</a:t>
            </a:r>
            <a:endParaRPr sz="1600">
              <a:solidFill>
                <a:schemeClr val="lt1"/>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lt1"/>
              </a:buClr>
              <a:buSzPts val="1600"/>
              <a:buFont typeface="Montserrat"/>
              <a:buChar char="●"/>
            </a:pPr>
            <a:r>
              <a:rPr lang="de" sz="1600">
                <a:solidFill>
                  <a:schemeClr val="lt1"/>
                </a:solidFill>
                <a:latin typeface="Montserrat"/>
                <a:ea typeface="Montserrat"/>
                <a:cs typeface="Montserrat"/>
                <a:sym typeface="Montserrat"/>
              </a:rPr>
              <a:t>Sales Dashboard</a:t>
            </a:r>
            <a:endParaRPr sz="1600">
              <a:solidFill>
                <a:schemeClr val="lt1"/>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lt1"/>
              </a:buClr>
              <a:buSzPts val="1600"/>
              <a:buFont typeface="Montserrat"/>
              <a:buChar char="●"/>
            </a:pPr>
            <a:r>
              <a:rPr lang="de" sz="1600">
                <a:solidFill>
                  <a:schemeClr val="lt1"/>
                </a:solidFill>
                <a:latin typeface="Montserrat"/>
                <a:ea typeface="Montserrat"/>
                <a:cs typeface="Montserrat"/>
                <a:sym typeface="Montserrat"/>
              </a:rPr>
              <a:t>Operational Dashboard</a:t>
            </a:r>
            <a:endParaRPr sz="1600">
              <a:solidFill>
                <a:schemeClr val="lt1"/>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lt1"/>
              </a:buClr>
              <a:buSzPts val="1600"/>
              <a:buFont typeface="Montserrat"/>
              <a:buChar char="●"/>
            </a:pPr>
            <a:r>
              <a:rPr lang="de" sz="1600">
                <a:solidFill>
                  <a:schemeClr val="lt1"/>
                </a:solidFill>
                <a:latin typeface="Montserrat"/>
                <a:ea typeface="Montserrat"/>
                <a:cs typeface="Montserrat"/>
                <a:sym typeface="Montserrat"/>
              </a:rPr>
              <a:t>Recommendations</a:t>
            </a:r>
            <a:endParaRPr sz="1600">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41" name="Shape 141"/>
        <p:cNvGrpSpPr/>
        <p:nvPr/>
      </p:nvGrpSpPr>
      <p:grpSpPr>
        <a:xfrm>
          <a:off x="0" y="0"/>
          <a:ext cx="0" cy="0"/>
          <a:chOff x="0" y="0"/>
          <a:chExt cx="0" cy="0"/>
        </a:xfrm>
      </p:grpSpPr>
      <p:sp>
        <p:nvSpPr>
          <p:cNvPr id="142" name="Google Shape;142;p14"/>
          <p:cNvSpPr txBox="1"/>
          <p:nvPr/>
        </p:nvSpPr>
        <p:spPr>
          <a:xfrm>
            <a:off x="3362400" y="1784700"/>
            <a:ext cx="5781600" cy="157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3200">
                <a:solidFill>
                  <a:schemeClr val="lt1"/>
                </a:solidFill>
                <a:latin typeface="Montserrat"/>
                <a:ea typeface="Montserrat"/>
                <a:cs typeface="Montserrat"/>
                <a:sym typeface="Montserrat"/>
              </a:rPr>
              <a:t>Market Flash</a:t>
            </a:r>
            <a:endParaRPr>
              <a:solidFill>
                <a:schemeClr val="lt1"/>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a:solidFill>
                <a:schemeClr val="lt1"/>
              </a:solidFill>
              <a:latin typeface="Montserrat"/>
              <a:ea typeface="Montserrat"/>
              <a:cs typeface="Montserrat"/>
              <a:sym typeface="Montserrat"/>
            </a:endParaRPr>
          </a:p>
          <a:p>
            <a:pPr indent="0" lvl="0" marL="0" rtl="0" algn="l">
              <a:lnSpc>
                <a:spcPct val="150000"/>
              </a:lnSpc>
              <a:spcBef>
                <a:spcPts val="0"/>
              </a:spcBef>
              <a:spcAft>
                <a:spcPts val="0"/>
              </a:spcAft>
              <a:buClr>
                <a:srgbClr val="000000"/>
              </a:buClr>
              <a:buSzPts val="1400"/>
              <a:buFont typeface="Arial"/>
              <a:buNone/>
            </a:pPr>
            <a:r>
              <a:rPr lang="de">
                <a:solidFill>
                  <a:schemeClr val="lt1"/>
                </a:solidFill>
                <a:latin typeface="Montserrat"/>
                <a:ea typeface="Montserrat"/>
                <a:cs typeface="Montserrat"/>
                <a:sym typeface="Montserrat"/>
              </a:rPr>
              <a:t>social media marketing, managing advertising campaigns, influencers, and performance analytics for clients.</a:t>
            </a:r>
            <a:endParaRPr>
              <a:solidFill>
                <a:schemeClr val="lt1"/>
              </a:solidFill>
              <a:latin typeface="Montserrat"/>
              <a:ea typeface="Montserrat"/>
              <a:cs typeface="Montserrat"/>
              <a:sym typeface="Montserrat"/>
            </a:endParaRPr>
          </a:p>
        </p:txBody>
      </p:sp>
      <p:pic>
        <p:nvPicPr>
          <p:cNvPr id="143" name="Google Shape;143;p14" title="MarketFlash Logo.png"/>
          <p:cNvPicPr preferRelativeResize="0"/>
          <p:nvPr/>
        </p:nvPicPr>
        <p:blipFill>
          <a:blip r:embed="rId3">
            <a:alphaModFix/>
          </a:blip>
          <a:stretch>
            <a:fillRect/>
          </a:stretch>
        </p:blipFill>
        <p:spPr>
          <a:xfrm>
            <a:off x="6651800" y="230825"/>
            <a:ext cx="2190750" cy="1409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47" name="Shape 147"/>
        <p:cNvGrpSpPr/>
        <p:nvPr/>
      </p:nvGrpSpPr>
      <p:grpSpPr>
        <a:xfrm>
          <a:off x="0" y="0"/>
          <a:ext cx="0" cy="0"/>
          <a:chOff x="0" y="0"/>
          <a:chExt cx="0" cy="0"/>
        </a:xfrm>
      </p:grpSpPr>
      <p:sp>
        <p:nvSpPr>
          <p:cNvPr id="148" name="Google Shape;148;p15"/>
          <p:cNvSpPr txBox="1"/>
          <p:nvPr>
            <p:ph type="title"/>
          </p:nvPr>
        </p:nvSpPr>
        <p:spPr>
          <a:xfrm>
            <a:off x="2182950" y="206350"/>
            <a:ext cx="6231600" cy="88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highlight>
                  <a:srgbClr val="D9D9D9"/>
                </a:highlight>
              </a:rPr>
              <a:t>Markt Flash </a:t>
            </a:r>
            <a:endParaRPr sz="2500">
              <a:highlight>
                <a:srgbClr val="D9D9D9"/>
              </a:highlight>
            </a:endParaRPr>
          </a:p>
          <a:p>
            <a:pPr indent="0" lvl="0" marL="0" rtl="0" algn="l">
              <a:spcBef>
                <a:spcPts val="0"/>
              </a:spcBef>
              <a:spcAft>
                <a:spcPts val="0"/>
              </a:spcAft>
              <a:buNone/>
            </a:pPr>
            <a:r>
              <a:rPr lang="de" sz="1900">
                <a:highlight>
                  <a:srgbClr val="D9D9D9"/>
                </a:highlight>
              </a:rPr>
              <a:t>Entity Relationship Diagram (ERD)</a:t>
            </a:r>
            <a:endParaRPr sz="1900">
              <a:highlight>
                <a:srgbClr val="D9D9D9"/>
              </a:highlight>
            </a:endParaRPr>
          </a:p>
        </p:txBody>
      </p:sp>
      <p:pic>
        <p:nvPicPr>
          <p:cNvPr id="149" name="Google Shape;149;p15"/>
          <p:cNvPicPr preferRelativeResize="0"/>
          <p:nvPr/>
        </p:nvPicPr>
        <p:blipFill>
          <a:blip r:embed="rId3">
            <a:alphaModFix/>
          </a:blip>
          <a:stretch>
            <a:fillRect/>
          </a:stretch>
        </p:blipFill>
        <p:spPr>
          <a:xfrm>
            <a:off x="2182950" y="1154725"/>
            <a:ext cx="4255526" cy="3730875"/>
          </a:xfrm>
          <a:prstGeom prst="rect">
            <a:avLst/>
          </a:prstGeom>
          <a:noFill/>
          <a:ln>
            <a:noFill/>
          </a:ln>
        </p:spPr>
      </p:pic>
      <p:cxnSp>
        <p:nvCxnSpPr>
          <p:cNvPr id="150" name="Google Shape;150;p15"/>
          <p:cNvCxnSpPr/>
          <p:nvPr/>
        </p:nvCxnSpPr>
        <p:spPr>
          <a:xfrm>
            <a:off x="4979150" y="3077875"/>
            <a:ext cx="448200" cy="425700"/>
          </a:xfrm>
          <a:prstGeom prst="bentConnector3">
            <a:avLst>
              <a:gd fmla="val 50000" name="adj1"/>
            </a:avLst>
          </a:prstGeom>
          <a:noFill/>
          <a:ln cap="flat" cmpd="sng" w="28575">
            <a:solidFill>
              <a:srgbClr val="980000"/>
            </a:solidFill>
            <a:prstDash val="solid"/>
            <a:round/>
            <a:headEnd len="med" w="med" type="none"/>
            <a:tailEnd len="med" w="med" type="none"/>
          </a:ln>
        </p:spPr>
      </p:cxnSp>
      <p:cxnSp>
        <p:nvCxnSpPr>
          <p:cNvPr id="151" name="Google Shape;151;p15"/>
          <p:cNvCxnSpPr/>
          <p:nvPr/>
        </p:nvCxnSpPr>
        <p:spPr>
          <a:xfrm flipH="1">
            <a:off x="3264725" y="2887375"/>
            <a:ext cx="705900" cy="470700"/>
          </a:xfrm>
          <a:prstGeom prst="bentConnector3">
            <a:avLst>
              <a:gd fmla="val 42864" name="adj1"/>
            </a:avLst>
          </a:prstGeom>
          <a:noFill/>
          <a:ln cap="flat" cmpd="sng" w="28575">
            <a:solidFill>
              <a:srgbClr val="980000"/>
            </a:solidFill>
            <a:prstDash val="solid"/>
            <a:round/>
            <a:headEnd len="med" w="med" type="none"/>
            <a:tailEnd len="med" w="med" type="none"/>
          </a:ln>
        </p:spPr>
      </p:cxnSp>
      <p:pic>
        <p:nvPicPr>
          <p:cNvPr id="152" name="Google Shape;152;p15" title="MarketFlash Logo.png"/>
          <p:cNvPicPr preferRelativeResize="0"/>
          <p:nvPr/>
        </p:nvPicPr>
        <p:blipFill>
          <a:blip r:embed="rId4">
            <a:alphaModFix/>
          </a:blip>
          <a:stretch>
            <a:fillRect/>
          </a:stretch>
        </p:blipFill>
        <p:spPr>
          <a:xfrm>
            <a:off x="7535874" y="71625"/>
            <a:ext cx="1265400" cy="814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2182950" y="206350"/>
            <a:ext cx="6231600" cy="88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highlight>
                  <a:srgbClr val="D9D9D9"/>
                </a:highlight>
              </a:rPr>
              <a:t>Markt Flash </a:t>
            </a:r>
            <a:endParaRPr sz="2500">
              <a:highlight>
                <a:srgbClr val="D9D9D9"/>
              </a:highlight>
            </a:endParaRPr>
          </a:p>
          <a:p>
            <a:pPr indent="0" lvl="0" marL="0" rtl="0" algn="l">
              <a:spcBef>
                <a:spcPts val="0"/>
              </a:spcBef>
              <a:spcAft>
                <a:spcPts val="0"/>
              </a:spcAft>
              <a:buNone/>
            </a:pPr>
            <a:r>
              <a:rPr lang="de" sz="1900">
                <a:highlight>
                  <a:srgbClr val="D9D9D9"/>
                </a:highlight>
              </a:rPr>
              <a:t>Functional </a:t>
            </a:r>
            <a:r>
              <a:rPr lang="de" sz="1900">
                <a:highlight>
                  <a:srgbClr val="D9D9D9"/>
                </a:highlight>
              </a:rPr>
              <a:t>Diagram</a:t>
            </a:r>
            <a:endParaRPr sz="1900">
              <a:highlight>
                <a:srgbClr val="D9D9D9"/>
              </a:highlight>
            </a:endParaRPr>
          </a:p>
        </p:txBody>
      </p:sp>
      <p:pic>
        <p:nvPicPr>
          <p:cNvPr id="158" name="Google Shape;158;p16"/>
          <p:cNvPicPr preferRelativeResize="0"/>
          <p:nvPr/>
        </p:nvPicPr>
        <p:blipFill>
          <a:blip r:embed="rId3">
            <a:alphaModFix/>
          </a:blip>
          <a:stretch>
            <a:fillRect/>
          </a:stretch>
        </p:blipFill>
        <p:spPr>
          <a:xfrm>
            <a:off x="1202165" y="1385775"/>
            <a:ext cx="6739675" cy="2879043"/>
          </a:xfrm>
          <a:prstGeom prst="rect">
            <a:avLst/>
          </a:prstGeom>
          <a:noFill/>
          <a:ln>
            <a:noFill/>
          </a:ln>
        </p:spPr>
      </p:pic>
      <p:sp>
        <p:nvSpPr>
          <p:cNvPr id="159" name="Google Shape;159;p16"/>
          <p:cNvSpPr/>
          <p:nvPr/>
        </p:nvSpPr>
        <p:spPr>
          <a:xfrm>
            <a:off x="2594900" y="2991175"/>
            <a:ext cx="1009800" cy="4011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0" name="Google Shape;160;p16"/>
          <p:cNvSpPr/>
          <p:nvPr/>
        </p:nvSpPr>
        <p:spPr>
          <a:xfrm>
            <a:off x="5411427" y="3071952"/>
            <a:ext cx="1009800" cy="4011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61" name="Google Shape;161;p16" title="MarketFlash Logo.png"/>
          <p:cNvPicPr preferRelativeResize="0"/>
          <p:nvPr/>
        </p:nvPicPr>
        <p:blipFill>
          <a:blip r:embed="rId4">
            <a:alphaModFix/>
          </a:blip>
          <a:stretch>
            <a:fillRect/>
          </a:stretch>
        </p:blipFill>
        <p:spPr>
          <a:xfrm>
            <a:off x="7535874" y="71625"/>
            <a:ext cx="1265400" cy="814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65" name="Shape 165"/>
        <p:cNvGrpSpPr/>
        <p:nvPr/>
      </p:nvGrpSpPr>
      <p:grpSpPr>
        <a:xfrm>
          <a:off x="0" y="0"/>
          <a:ext cx="0" cy="0"/>
          <a:chOff x="0" y="0"/>
          <a:chExt cx="0" cy="0"/>
        </a:xfrm>
      </p:grpSpPr>
      <p:sp>
        <p:nvSpPr>
          <p:cNvPr id="166" name="Google Shape;166;p17"/>
          <p:cNvSpPr txBox="1"/>
          <p:nvPr>
            <p:ph type="title"/>
          </p:nvPr>
        </p:nvSpPr>
        <p:spPr>
          <a:xfrm>
            <a:off x="2182950" y="206350"/>
            <a:ext cx="6231600" cy="88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highlight>
                  <a:srgbClr val="D9D9D9"/>
                </a:highlight>
              </a:rPr>
              <a:t>Markt Flash </a:t>
            </a:r>
            <a:endParaRPr>
              <a:highlight>
                <a:srgbClr val="D9D9D9"/>
              </a:highlight>
            </a:endParaRPr>
          </a:p>
          <a:p>
            <a:pPr indent="0" lvl="0" marL="0" rtl="0" algn="l">
              <a:spcBef>
                <a:spcPts val="0"/>
              </a:spcBef>
              <a:spcAft>
                <a:spcPts val="0"/>
              </a:spcAft>
              <a:buNone/>
            </a:pPr>
            <a:r>
              <a:rPr lang="de" sz="1900">
                <a:highlight>
                  <a:srgbClr val="D9D9D9"/>
                </a:highlight>
              </a:rPr>
              <a:t>Database</a:t>
            </a:r>
            <a:endParaRPr sz="1900">
              <a:highlight>
                <a:srgbClr val="D9D9D9"/>
              </a:highlight>
            </a:endParaRPr>
          </a:p>
        </p:txBody>
      </p:sp>
      <p:pic>
        <p:nvPicPr>
          <p:cNvPr id="167" name="Google Shape;167;p17"/>
          <p:cNvPicPr preferRelativeResize="0"/>
          <p:nvPr/>
        </p:nvPicPr>
        <p:blipFill>
          <a:blip r:embed="rId3">
            <a:alphaModFix/>
          </a:blip>
          <a:stretch>
            <a:fillRect/>
          </a:stretch>
        </p:blipFill>
        <p:spPr>
          <a:xfrm>
            <a:off x="1442650" y="1018000"/>
            <a:ext cx="6575800" cy="3746450"/>
          </a:xfrm>
          <a:prstGeom prst="rect">
            <a:avLst/>
          </a:prstGeom>
          <a:noFill/>
          <a:ln>
            <a:noFill/>
          </a:ln>
        </p:spPr>
      </p:pic>
      <p:sp>
        <p:nvSpPr>
          <p:cNvPr id="168" name="Google Shape;168;p17"/>
          <p:cNvSpPr/>
          <p:nvPr/>
        </p:nvSpPr>
        <p:spPr>
          <a:xfrm>
            <a:off x="1384650" y="1343900"/>
            <a:ext cx="1435500" cy="34857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9" name="Google Shape;169;p17"/>
          <p:cNvSpPr/>
          <p:nvPr/>
        </p:nvSpPr>
        <p:spPr>
          <a:xfrm>
            <a:off x="2892975" y="1092250"/>
            <a:ext cx="5201400" cy="20679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0" name="Google Shape;170;p17"/>
          <p:cNvSpPr/>
          <p:nvPr/>
        </p:nvSpPr>
        <p:spPr>
          <a:xfrm>
            <a:off x="2892975" y="3160150"/>
            <a:ext cx="5201400" cy="16695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71" name="Google Shape;171;p17" title="MarketFlash Logo.png"/>
          <p:cNvPicPr preferRelativeResize="0"/>
          <p:nvPr/>
        </p:nvPicPr>
        <p:blipFill>
          <a:blip r:embed="rId4">
            <a:alphaModFix/>
          </a:blip>
          <a:stretch>
            <a:fillRect/>
          </a:stretch>
        </p:blipFill>
        <p:spPr>
          <a:xfrm>
            <a:off x="7535874" y="71625"/>
            <a:ext cx="1265400" cy="814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75" name="Shape 175"/>
        <p:cNvGrpSpPr/>
        <p:nvPr/>
      </p:nvGrpSpPr>
      <p:grpSpPr>
        <a:xfrm>
          <a:off x="0" y="0"/>
          <a:ext cx="0" cy="0"/>
          <a:chOff x="0" y="0"/>
          <a:chExt cx="0" cy="0"/>
        </a:xfrm>
      </p:grpSpPr>
      <p:sp>
        <p:nvSpPr>
          <p:cNvPr id="176" name="Google Shape;176;p18"/>
          <p:cNvSpPr txBox="1"/>
          <p:nvPr>
            <p:ph type="title"/>
          </p:nvPr>
        </p:nvSpPr>
        <p:spPr>
          <a:xfrm>
            <a:off x="2182950" y="206350"/>
            <a:ext cx="6231600" cy="88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highlight>
                  <a:srgbClr val="D9D9D9"/>
                </a:highlight>
              </a:rPr>
              <a:t>Markt Flash </a:t>
            </a:r>
            <a:r>
              <a:rPr lang="de">
                <a:highlight>
                  <a:srgbClr val="D9D9D9"/>
                </a:highlight>
              </a:rPr>
              <a:t>Dashboard</a:t>
            </a:r>
            <a:endParaRPr>
              <a:highlight>
                <a:srgbClr val="D9D9D9"/>
              </a:highlight>
            </a:endParaRPr>
          </a:p>
        </p:txBody>
      </p:sp>
      <p:pic>
        <p:nvPicPr>
          <p:cNvPr id="177" name="Google Shape;177;p18"/>
          <p:cNvPicPr preferRelativeResize="0"/>
          <p:nvPr/>
        </p:nvPicPr>
        <p:blipFill>
          <a:blip r:embed="rId3">
            <a:alphaModFix/>
          </a:blip>
          <a:stretch>
            <a:fillRect/>
          </a:stretch>
        </p:blipFill>
        <p:spPr>
          <a:xfrm>
            <a:off x="2182950" y="938192"/>
            <a:ext cx="5203599" cy="673964"/>
          </a:xfrm>
          <a:prstGeom prst="rect">
            <a:avLst/>
          </a:prstGeom>
          <a:noFill/>
          <a:ln>
            <a:noFill/>
          </a:ln>
        </p:spPr>
      </p:pic>
      <p:pic>
        <p:nvPicPr>
          <p:cNvPr id="178" name="Google Shape;178;p18"/>
          <p:cNvPicPr preferRelativeResize="0"/>
          <p:nvPr/>
        </p:nvPicPr>
        <p:blipFill>
          <a:blip r:embed="rId4">
            <a:alphaModFix/>
          </a:blip>
          <a:stretch>
            <a:fillRect/>
          </a:stretch>
        </p:blipFill>
        <p:spPr>
          <a:xfrm>
            <a:off x="2179200" y="1619722"/>
            <a:ext cx="5203600" cy="3206279"/>
          </a:xfrm>
          <a:prstGeom prst="rect">
            <a:avLst/>
          </a:prstGeom>
          <a:noFill/>
          <a:ln>
            <a:noFill/>
          </a:ln>
        </p:spPr>
      </p:pic>
      <p:sp>
        <p:nvSpPr>
          <p:cNvPr id="179" name="Google Shape;179;p18"/>
          <p:cNvSpPr/>
          <p:nvPr/>
        </p:nvSpPr>
        <p:spPr>
          <a:xfrm>
            <a:off x="2183050" y="1238939"/>
            <a:ext cx="5203500" cy="4011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0" name="Google Shape;180;p18"/>
          <p:cNvSpPr/>
          <p:nvPr/>
        </p:nvSpPr>
        <p:spPr>
          <a:xfrm flipH="1" rot="10800000">
            <a:off x="5343575" y="1608600"/>
            <a:ext cx="2013000" cy="14436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1" name="Google Shape;181;p18"/>
          <p:cNvSpPr/>
          <p:nvPr/>
        </p:nvSpPr>
        <p:spPr>
          <a:xfrm flipH="1" rot="10800000">
            <a:off x="2179200" y="1608600"/>
            <a:ext cx="3137400" cy="14436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2" name="Google Shape;182;p18"/>
          <p:cNvSpPr/>
          <p:nvPr/>
        </p:nvSpPr>
        <p:spPr>
          <a:xfrm flipH="1" rot="10800000">
            <a:off x="2179200" y="3052125"/>
            <a:ext cx="5186100" cy="17553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83" name="Google Shape;183;p18" title="MarketFlash Logo.png"/>
          <p:cNvPicPr preferRelativeResize="0"/>
          <p:nvPr/>
        </p:nvPicPr>
        <p:blipFill>
          <a:blip r:embed="rId5">
            <a:alphaModFix/>
          </a:blip>
          <a:stretch>
            <a:fillRect/>
          </a:stretch>
        </p:blipFill>
        <p:spPr>
          <a:xfrm>
            <a:off x="7535874" y="71625"/>
            <a:ext cx="1265400" cy="814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87" name="Shape 187"/>
        <p:cNvGrpSpPr/>
        <p:nvPr/>
      </p:nvGrpSpPr>
      <p:grpSpPr>
        <a:xfrm>
          <a:off x="0" y="0"/>
          <a:ext cx="0" cy="0"/>
          <a:chOff x="0" y="0"/>
          <a:chExt cx="0" cy="0"/>
        </a:xfrm>
      </p:grpSpPr>
      <p:sp>
        <p:nvSpPr>
          <p:cNvPr id="188" name="Google Shape;188;p19"/>
          <p:cNvSpPr txBox="1"/>
          <p:nvPr>
            <p:ph type="title"/>
          </p:nvPr>
        </p:nvSpPr>
        <p:spPr>
          <a:xfrm>
            <a:off x="1297500" y="393750"/>
            <a:ext cx="6238500" cy="885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highlight>
                  <a:srgbClr val="D9D9D9"/>
                </a:highlight>
              </a:rPr>
              <a:t>Markt Flash Data most </a:t>
            </a:r>
            <a:r>
              <a:rPr lang="de">
                <a:highlight>
                  <a:srgbClr val="D9D9D9"/>
                </a:highlight>
              </a:rPr>
              <a:t>interesting</a:t>
            </a:r>
            <a:r>
              <a:rPr lang="de">
                <a:highlight>
                  <a:srgbClr val="D9D9D9"/>
                </a:highlight>
              </a:rPr>
              <a:t> Insights</a:t>
            </a:r>
            <a:r>
              <a:rPr lang="de" sz="2500">
                <a:highlight>
                  <a:srgbClr val="D9D9D9"/>
                </a:highlight>
              </a:rPr>
              <a:t>:</a:t>
            </a:r>
            <a:endParaRPr sz="2500">
              <a:highlight>
                <a:srgbClr val="D9D9D9"/>
              </a:highlight>
            </a:endParaRPr>
          </a:p>
          <a:p>
            <a:pPr indent="0" lvl="0" marL="0" rtl="0" algn="l">
              <a:spcBef>
                <a:spcPts val="0"/>
              </a:spcBef>
              <a:spcAft>
                <a:spcPts val="0"/>
              </a:spcAft>
              <a:buNone/>
            </a:pPr>
            <a:r>
              <a:rPr lang="de" sz="1800">
                <a:highlight>
                  <a:srgbClr val="D9D9D9"/>
                </a:highlight>
              </a:rPr>
              <a:t>The most expensive Channel (YouTube) has the lowest Conversion Rate on average.</a:t>
            </a:r>
            <a:endParaRPr sz="1800">
              <a:highlight>
                <a:srgbClr val="D9D9D9"/>
              </a:highlight>
            </a:endParaRPr>
          </a:p>
          <a:p>
            <a:pPr indent="0" lvl="0" marL="0" rtl="0" algn="l">
              <a:spcBef>
                <a:spcPts val="0"/>
              </a:spcBef>
              <a:spcAft>
                <a:spcPts val="0"/>
              </a:spcAft>
              <a:buNone/>
            </a:pPr>
            <a:r>
              <a:rPr lang="de" sz="1800">
                <a:highlight>
                  <a:srgbClr val="D9D9D9"/>
                </a:highlight>
              </a:rPr>
              <a:t>.</a:t>
            </a:r>
            <a:endParaRPr sz="1800">
              <a:highlight>
                <a:srgbClr val="D9D9D9"/>
              </a:highlight>
            </a:endParaRPr>
          </a:p>
        </p:txBody>
      </p:sp>
      <p:pic>
        <p:nvPicPr>
          <p:cNvPr id="189" name="Google Shape;189;p19"/>
          <p:cNvPicPr preferRelativeResize="0"/>
          <p:nvPr/>
        </p:nvPicPr>
        <p:blipFill>
          <a:blip r:embed="rId3">
            <a:alphaModFix/>
          </a:blip>
          <a:stretch>
            <a:fillRect/>
          </a:stretch>
        </p:blipFill>
        <p:spPr>
          <a:xfrm>
            <a:off x="1372900" y="1439894"/>
            <a:ext cx="6030454" cy="3559050"/>
          </a:xfrm>
          <a:prstGeom prst="rect">
            <a:avLst/>
          </a:prstGeom>
          <a:noFill/>
          <a:ln>
            <a:noFill/>
          </a:ln>
        </p:spPr>
      </p:pic>
      <p:pic>
        <p:nvPicPr>
          <p:cNvPr id="190" name="Google Shape;190;p19" title="MarketFlash Logo.png"/>
          <p:cNvPicPr preferRelativeResize="0"/>
          <p:nvPr/>
        </p:nvPicPr>
        <p:blipFill>
          <a:blip r:embed="rId4">
            <a:alphaModFix/>
          </a:blip>
          <a:stretch>
            <a:fillRect/>
          </a:stretch>
        </p:blipFill>
        <p:spPr>
          <a:xfrm>
            <a:off x="7535874" y="71625"/>
            <a:ext cx="1265400" cy="814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94" name="Shape 194"/>
        <p:cNvGrpSpPr/>
        <p:nvPr/>
      </p:nvGrpSpPr>
      <p:grpSpPr>
        <a:xfrm>
          <a:off x="0" y="0"/>
          <a:ext cx="0" cy="0"/>
          <a:chOff x="0" y="0"/>
          <a:chExt cx="0" cy="0"/>
        </a:xfrm>
      </p:grpSpPr>
      <p:sp>
        <p:nvSpPr>
          <p:cNvPr id="195" name="Google Shape;195;p20"/>
          <p:cNvSpPr/>
          <p:nvPr/>
        </p:nvSpPr>
        <p:spPr>
          <a:xfrm>
            <a:off x="5253925" y="4457700"/>
            <a:ext cx="1098300" cy="48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6" name="Google Shape;196;p20"/>
          <p:cNvSpPr txBox="1"/>
          <p:nvPr>
            <p:ph type="title"/>
          </p:nvPr>
        </p:nvSpPr>
        <p:spPr>
          <a:xfrm>
            <a:off x="1322900" y="87625"/>
            <a:ext cx="6091800" cy="11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Weighted channel evaluation, based on </a:t>
            </a:r>
            <a:r>
              <a:rPr lang="de"/>
              <a:t>cheapest</a:t>
            </a:r>
            <a:r>
              <a:rPr lang="de"/>
              <a:t> Channel (TikTok)</a:t>
            </a:r>
            <a:endParaRPr sz="1800"/>
          </a:p>
        </p:txBody>
      </p:sp>
      <p:sp>
        <p:nvSpPr>
          <p:cNvPr id="197" name="Google Shape;197;p20"/>
          <p:cNvSpPr/>
          <p:nvPr/>
        </p:nvSpPr>
        <p:spPr>
          <a:xfrm>
            <a:off x="6468525" y="3246975"/>
            <a:ext cx="2254500" cy="1067700"/>
          </a:xfrm>
          <a:prstGeom prst="bentUpArrow">
            <a:avLst>
              <a:gd fmla="val 25000" name="adj1"/>
              <a:gd fmla="val 25000" name="adj2"/>
              <a:gd fmla="val 25000" name="adj3"/>
            </a:avLst>
          </a:prstGeom>
          <a:solidFill>
            <a:srgbClr val="38761D"/>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98" name="Google Shape;198;p20"/>
          <p:cNvPicPr preferRelativeResize="0"/>
          <p:nvPr/>
        </p:nvPicPr>
        <p:blipFill>
          <a:blip r:embed="rId3">
            <a:alphaModFix/>
          </a:blip>
          <a:stretch>
            <a:fillRect/>
          </a:stretch>
        </p:blipFill>
        <p:spPr>
          <a:xfrm>
            <a:off x="2912463" y="3136825"/>
            <a:ext cx="3365617" cy="1858200"/>
          </a:xfrm>
          <a:prstGeom prst="rect">
            <a:avLst/>
          </a:prstGeom>
          <a:noFill/>
          <a:ln>
            <a:noFill/>
          </a:ln>
        </p:spPr>
      </p:pic>
      <p:pic>
        <p:nvPicPr>
          <p:cNvPr id="199" name="Google Shape;199;p20"/>
          <p:cNvPicPr preferRelativeResize="0"/>
          <p:nvPr/>
        </p:nvPicPr>
        <p:blipFill>
          <a:blip r:embed="rId4">
            <a:alphaModFix/>
          </a:blip>
          <a:stretch>
            <a:fillRect/>
          </a:stretch>
        </p:blipFill>
        <p:spPr>
          <a:xfrm>
            <a:off x="242600" y="1315075"/>
            <a:ext cx="8705351" cy="1550900"/>
          </a:xfrm>
          <a:prstGeom prst="rect">
            <a:avLst/>
          </a:prstGeom>
          <a:noFill/>
          <a:ln>
            <a:noFill/>
          </a:ln>
        </p:spPr>
      </p:pic>
      <p:sp>
        <p:nvSpPr>
          <p:cNvPr id="200" name="Google Shape;200;p20"/>
          <p:cNvSpPr/>
          <p:nvPr/>
        </p:nvSpPr>
        <p:spPr>
          <a:xfrm>
            <a:off x="8106825" y="1159925"/>
            <a:ext cx="863700" cy="18753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01" name="Google Shape;201;p20" title="MarketFlash Logo.png"/>
          <p:cNvPicPr preferRelativeResize="0"/>
          <p:nvPr/>
        </p:nvPicPr>
        <p:blipFill>
          <a:blip r:embed="rId5">
            <a:alphaModFix/>
          </a:blip>
          <a:stretch>
            <a:fillRect/>
          </a:stretch>
        </p:blipFill>
        <p:spPr>
          <a:xfrm>
            <a:off x="7535874" y="71625"/>
            <a:ext cx="1265400" cy="814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05" name="Shape 205"/>
        <p:cNvGrpSpPr/>
        <p:nvPr/>
      </p:nvGrpSpPr>
      <p:grpSpPr>
        <a:xfrm>
          <a:off x="0" y="0"/>
          <a:ext cx="0" cy="0"/>
          <a:chOff x="0" y="0"/>
          <a:chExt cx="0" cy="0"/>
        </a:xfrm>
      </p:grpSpPr>
      <p:sp>
        <p:nvSpPr>
          <p:cNvPr id="206" name="Google Shape;206;p21"/>
          <p:cNvSpPr txBox="1"/>
          <p:nvPr>
            <p:ph type="title"/>
          </p:nvPr>
        </p:nvSpPr>
        <p:spPr>
          <a:xfrm>
            <a:off x="1297500" y="393750"/>
            <a:ext cx="7038900" cy="11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Recommendations</a:t>
            </a:r>
            <a:endParaRPr sz="1800"/>
          </a:p>
        </p:txBody>
      </p:sp>
      <p:sp>
        <p:nvSpPr>
          <p:cNvPr id="207" name="Google Shape;207;p21"/>
          <p:cNvSpPr/>
          <p:nvPr/>
        </p:nvSpPr>
        <p:spPr>
          <a:xfrm>
            <a:off x="5253925" y="4457700"/>
            <a:ext cx="1098300" cy="48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8" name="Google Shape;208;p21"/>
          <p:cNvSpPr txBox="1"/>
          <p:nvPr/>
        </p:nvSpPr>
        <p:spPr>
          <a:xfrm>
            <a:off x="1431025" y="1263450"/>
            <a:ext cx="6449400" cy="35073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Enrich the data source with Sales and Profit to enable a performance evaluation based on these metrics. Currently, the evaluation is based solely on Cost.</a:t>
            </a:r>
            <a:endParaRPr b="1" sz="1800">
              <a:solidFill>
                <a:schemeClr val="lt1"/>
              </a:solidFill>
              <a:latin typeface="Lato"/>
              <a:ea typeface="Lato"/>
              <a:cs typeface="Lato"/>
              <a:sym typeface="Lato"/>
            </a:endParaRPr>
          </a:p>
          <a:p>
            <a:pPr indent="0" lvl="0" marL="457200" rtl="0" algn="l">
              <a:lnSpc>
                <a:spcPct val="150000"/>
              </a:lnSpc>
              <a:spcBef>
                <a:spcPts val="0"/>
              </a:spcBef>
              <a:spcAft>
                <a:spcPts val="0"/>
              </a:spcAft>
              <a:buNone/>
            </a:pPr>
            <a:r>
              <a:t/>
            </a:r>
            <a:endParaRPr b="1" sz="1800">
              <a:solidFill>
                <a:schemeClr val="lt1"/>
              </a:solidFill>
              <a:latin typeface="Lato"/>
              <a:ea typeface="Lato"/>
              <a:cs typeface="Lato"/>
              <a:sym typeface="Lato"/>
            </a:endParaRPr>
          </a:p>
          <a:p>
            <a:pPr indent="-342900" lvl="0" marL="457200" rtl="0" algn="l">
              <a:lnSpc>
                <a:spcPct val="150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The 'Influencers' table currently contains only two columns describing each influencer. If more columns are required, it is recommended to normalize this table into two separate tables: 'Influencers' and 'Social Handles'.</a:t>
            </a:r>
            <a:endParaRPr b="1" sz="1800">
              <a:solidFill>
                <a:schemeClr val="lt1"/>
              </a:solidFill>
              <a:latin typeface="Lato"/>
              <a:ea typeface="Lato"/>
              <a:cs typeface="Lato"/>
              <a:sym typeface="Lato"/>
            </a:endParaRPr>
          </a:p>
          <a:p>
            <a:pPr indent="0" lvl="0" marL="457200" rtl="0" algn="l">
              <a:spcBef>
                <a:spcPts val="0"/>
              </a:spcBef>
              <a:spcAft>
                <a:spcPts val="0"/>
              </a:spcAft>
              <a:buNone/>
            </a:pPr>
            <a:r>
              <a:t/>
            </a:r>
            <a:endParaRPr sz="1800">
              <a:solidFill>
                <a:schemeClr val="lt1"/>
              </a:solidFill>
              <a:latin typeface="Lato"/>
              <a:ea typeface="Lato"/>
              <a:cs typeface="Lato"/>
              <a:sym typeface="Lato"/>
            </a:endParaRPr>
          </a:p>
        </p:txBody>
      </p:sp>
      <p:pic>
        <p:nvPicPr>
          <p:cNvPr id="209" name="Google Shape;209;p21" title="MarketFlash Logo.png"/>
          <p:cNvPicPr preferRelativeResize="0"/>
          <p:nvPr/>
        </p:nvPicPr>
        <p:blipFill>
          <a:blip r:embed="rId3">
            <a:alphaModFix/>
          </a:blip>
          <a:stretch>
            <a:fillRect/>
          </a:stretch>
        </p:blipFill>
        <p:spPr>
          <a:xfrm>
            <a:off x="7535874" y="71625"/>
            <a:ext cx="1265400" cy="814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13" name="Shape 213"/>
        <p:cNvGrpSpPr/>
        <p:nvPr/>
      </p:nvGrpSpPr>
      <p:grpSpPr>
        <a:xfrm>
          <a:off x="0" y="0"/>
          <a:ext cx="0" cy="0"/>
          <a:chOff x="0" y="0"/>
          <a:chExt cx="0" cy="0"/>
        </a:xfrm>
      </p:grpSpPr>
      <p:sp>
        <p:nvSpPr>
          <p:cNvPr id="214" name="Google Shape;214;p22"/>
          <p:cNvSpPr txBox="1"/>
          <p:nvPr>
            <p:ph type="title"/>
          </p:nvPr>
        </p:nvSpPr>
        <p:spPr>
          <a:xfrm>
            <a:off x="3804450" y="2181150"/>
            <a:ext cx="1535100" cy="78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de" sz="2960"/>
              <a:t>Q&amp;A</a:t>
            </a:r>
            <a:endParaRPr b="1" sz="2960"/>
          </a:p>
        </p:txBody>
      </p:sp>
      <p:sp>
        <p:nvSpPr>
          <p:cNvPr id="215" name="Google Shape;215;p22"/>
          <p:cNvSpPr/>
          <p:nvPr/>
        </p:nvSpPr>
        <p:spPr>
          <a:xfrm>
            <a:off x="5253925" y="4457700"/>
            <a:ext cx="1098300" cy="48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16" name="Google Shape;216;p22" title="MarketFlash Logo.png"/>
          <p:cNvPicPr preferRelativeResize="0"/>
          <p:nvPr/>
        </p:nvPicPr>
        <p:blipFill>
          <a:blip r:embed="rId3">
            <a:alphaModFix/>
          </a:blip>
          <a:stretch>
            <a:fillRect/>
          </a:stretch>
        </p:blipFill>
        <p:spPr>
          <a:xfrm>
            <a:off x="7535874" y="71625"/>
            <a:ext cx="1265400" cy="814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20" name="Shape 220"/>
        <p:cNvGrpSpPr/>
        <p:nvPr/>
      </p:nvGrpSpPr>
      <p:grpSpPr>
        <a:xfrm>
          <a:off x="0" y="0"/>
          <a:ext cx="0" cy="0"/>
          <a:chOff x="0" y="0"/>
          <a:chExt cx="0" cy="0"/>
        </a:xfrm>
      </p:grpSpPr>
      <p:sp>
        <p:nvSpPr>
          <p:cNvPr id="221" name="Google Shape;221;p23"/>
          <p:cNvSpPr txBox="1"/>
          <p:nvPr/>
        </p:nvSpPr>
        <p:spPr>
          <a:xfrm>
            <a:off x="3362400" y="1784700"/>
            <a:ext cx="5781600" cy="20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3200">
                <a:solidFill>
                  <a:schemeClr val="lt1"/>
                </a:solidFill>
                <a:latin typeface="Montserrat"/>
                <a:ea typeface="Montserrat"/>
                <a:cs typeface="Montserrat"/>
                <a:sym typeface="Montserrat"/>
              </a:rPr>
              <a:t>Spotify</a:t>
            </a:r>
            <a:endParaRPr>
              <a:solidFill>
                <a:schemeClr val="lt1"/>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a:solidFill>
                <a:schemeClr val="lt1"/>
              </a:solidFill>
              <a:latin typeface="Montserrat"/>
              <a:ea typeface="Montserrat"/>
              <a:cs typeface="Montserrat"/>
              <a:sym typeface="Montserrat"/>
            </a:endParaRPr>
          </a:p>
          <a:p>
            <a:pPr indent="0" lvl="0" marL="0" rtl="0" algn="l">
              <a:lnSpc>
                <a:spcPct val="150000"/>
              </a:lnSpc>
              <a:spcBef>
                <a:spcPts val="0"/>
              </a:spcBef>
              <a:spcAft>
                <a:spcPts val="0"/>
              </a:spcAft>
              <a:buClr>
                <a:srgbClr val="000000"/>
              </a:buClr>
              <a:buSzPts val="1400"/>
              <a:buFont typeface="Arial"/>
              <a:buNone/>
            </a:pPr>
            <a:r>
              <a:rPr lang="de">
                <a:solidFill>
                  <a:schemeClr val="lt1"/>
                </a:solidFill>
                <a:latin typeface="Montserrat"/>
                <a:ea typeface="Montserrat"/>
                <a:cs typeface="Montserrat"/>
                <a:sym typeface="Montserrat"/>
              </a:rPr>
              <a:t>is one of the world’s largest audio streaming platforms, providing access to over 100 million songs, 7 million podcast titles , and 500k audiobooks.</a:t>
            </a:r>
            <a:endParaRPr>
              <a:solidFill>
                <a:schemeClr val="lt1"/>
              </a:solidFill>
              <a:latin typeface="Montserrat"/>
              <a:ea typeface="Montserrat"/>
              <a:cs typeface="Montserrat"/>
              <a:sym typeface="Montserrat"/>
            </a:endParaRPr>
          </a:p>
        </p:txBody>
      </p:sp>
      <p:pic>
        <p:nvPicPr>
          <p:cNvPr id="222" name="Google Shape;222;p23" title="Spotify Logo.png"/>
          <p:cNvPicPr preferRelativeResize="0"/>
          <p:nvPr/>
        </p:nvPicPr>
        <p:blipFill>
          <a:blip r:embed="rId3">
            <a:alphaModFix/>
          </a:blip>
          <a:stretch>
            <a:fillRect/>
          </a:stretch>
        </p:blipFill>
        <p:spPr>
          <a:xfrm>
            <a:off x="7122450" y="309275"/>
            <a:ext cx="1409700" cy="1409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26" name="Shape 226"/>
        <p:cNvGrpSpPr/>
        <p:nvPr/>
      </p:nvGrpSpPr>
      <p:grpSpPr>
        <a:xfrm>
          <a:off x="0" y="0"/>
          <a:ext cx="0" cy="0"/>
          <a:chOff x="0" y="0"/>
          <a:chExt cx="0" cy="0"/>
        </a:xfrm>
      </p:grpSpPr>
      <p:sp>
        <p:nvSpPr>
          <p:cNvPr id="227" name="Google Shape;227;p24"/>
          <p:cNvSpPr txBox="1"/>
          <p:nvPr/>
        </p:nvSpPr>
        <p:spPr>
          <a:xfrm>
            <a:off x="1431025" y="1207425"/>
            <a:ext cx="6449400" cy="3507300"/>
          </a:xfrm>
          <a:prstGeom prst="rect">
            <a:avLst/>
          </a:prstGeom>
          <a:noFill/>
          <a:ln>
            <a:noFill/>
          </a:ln>
        </p:spPr>
        <p:txBody>
          <a:bodyPr anchorCtr="0" anchor="t" bIns="91425" lIns="91425" spcFirstLastPara="1" rIns="91425" wrap="square" tIns="91425">
            <a:noAutofit/>
          </a:bodyPr>
          <a:lstStyle/>
          <a:p>
            <a:pPr indent="-342900" lvl="0" marL="450000" rtl="0" algn="l">
              <a:lnSpc>
                <a:spcPct val="115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Strategic Dashboard</a:t>
            </a:r>
            <a:endParaRPr b="1" sz="1800">
              <a:solidFill>
                <a:schemeClr val="lt1"/>
              </a:solidFill>
              <a:latin typeface="Lato"/>
              <a:ea typeface="Lato"/>
              <a:cs typeface="Lato"/>
              <a:sym typeface="Lato"/>
            </a:endParaRPr>
          </a:p>
          <a:p>
            <a:pPr indent="-342900" lvl="1" marL="809999" rtl="0" algn="l">
              <a:lnSpc>
                <a:spcPct val="115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long-term growth. With user growth trends for premium and ad users.</a:t>
            </a:r>
            <a:endParaRPr b="1" sz="1800">
              <a:solidFill>
                <a:schemeClr val="lt1"/>
              </a:solidFill>
              <a:latin typeface="Lato"/>
              <a:ea typeface="Lato"/>
              <a:cs typeface="Lato"/>
              <a:sym typeface="Lato"/>
            </a:endParaRPr>
          </a:p>
          <a:p>
            <a:pPr indent="-342900" lvl="0" marL="450000" rtl="0" algn="l">
              <a:lnSpc>
                <a:spcPct val="115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Sales Dashboard with detailed breakdown </a:t>
            </a:r>
            <a:endParaRPr b="1" sz="1800">
              <a:solidFill>
                <a:schemeClr val="lt1"/>
              </a:solidFill>
              <a:latin typeface="Lato"/>
              <a:ea typeface="Lato"/>
              <a:cs typeface="Lato"/>
              <a:sym typeface="Lato"/>
            </a:endParaRPr>
          </a:p>
          <a:p>
            <a:pPr indent="-342900" lvl="1" marL="809999" rtl="0" algn="l">
              <a:lnSpc>
                <a:spcPct val="115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Revenue for premium- and ad-stream</a:t>
            </a:r>
            <a:endParaRPr b="1" sz="1800">
              <a:solidFill>
                <a:schemeClr val="lt1"/>
              </a:solidFill>
              <a:latin typeface="Lato"/>
              <a:ea typeface="Lato"/>
              <a:cs typeface="Lato"/>
              <a:sym typeface="Lato"/>
            </a:endParaRPr>
          </a:p>
          <a:p>
            <a:pPr indent="-342900" lvl="1" marL="809999" rtl="0" algn="l">
              <a:lnSpc>
                <a:spcPct val="115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 Premium ARPU</a:t>
            </a:r>
            <a:endParaRPr b="1" sz="1800">
              <a:solidFill>
                <a:schemeClr val="lt1"/>
              </a:solidFill>
              <a:latin typeface="Lato"/>
              <a:ea typeface="Lato"/>
              <a:cs typeface="Lato"/>
              <a:sym typeface="Lato"/>
            </a:endParaRPr>
          </a:p>
          <a:p>
            <a:pPr indent="-342900" lvl="0" marL="360000" rtl="0" algn="l">
              <a:lnSpc>
                <a:spcPct val="115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Operational Dashboard with cost structure</a:t>
            </a:r>
            <a:endParaRPr b="1" sz="1800">
              <a:solidFill>
                <a:schemeClr val="lt1"/>
              </a:solidFill>
              <a:latin typeface="Lato"/>
              <a:ea typeface="Lato"/>
              <a:cs typeface="Lato"/>
              <a:sym typeface="Lato"/>
            </a:endParaRPr>
          </a:p>
          <a:p>
            <a:pPr indent="-342900" lvl="1" marL="809999" rtl="0" algn="l">
              <a:lnSpc>
                <a:spcPct val="115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cost of revenue,</a:t>
            </a:r>
            <a:endParaRPr b="1" sz="1800">
              <a:solidFill>
                <a:schemeClr val="lt1"/>
              </a:solidFill>
              <a:latin typeface="Lato"/>
              <a:ea typeface="Lato"/>
              <a:cs typeface="Lato"/>
              <a:sym typeface="Lato"/>
            </a:endParaRPr>
          </a:p>
          <a:p>
            <a:pPr indent="-342900" lvl="1" marL="809999" rtl="0" algn="l">
              <a:lnSpc>
                <a:spcPct val="115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sales and marketing expenses</a:t>
            </a:r>
            <a:endParaRPr b="1" sz="1800">
              <a:solidFill>
                <a:schemeClr val="lt1"/>
              </a:solidFill>
              <a:latin typeface="Lato"/>
              <a:ea typeface="Lato"/>
              <a:cs typeface="Lato"/>
              <a:sym typeface="Lato"/>
            </a:endParaRPr>
          </a:p>
          <a:p>
            <a:pPr indent="-342900" lvl="1" marL="809999" rtl="0" algn="l">
              <a:lnSpc>
                <a:spcPct val="115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 research and development costs</a:t>
            </a:r>
            <a:endParaRPr b="1" sz="1800">
              <a:solidFill>
                <a:schemeClr val="lt1"/>
              </a:solidFill>
              <a:latin typeface="Lato"/>
              <a:ea typeface="Lato"/>
              <a:cs typeface="Lato"/>
              <a:sym typeface="Lato"/>
            </a:endParaRPr>
          </a:p>
        </p:txBody>
      </p:sp>
      <p:sp>
        <p:nvSpPr>
          <p:cNvPr id="228" name="Google Shape;228;p24"/>
          <p:cNvSpPr txBox="1"/>
          <p:nvPr>
            <p:ph type="title"/>
          </p:nvPr>
        </p:nvSpPr>
        <p:spPr>
          <a:xfrm>
            <a:off x="1297500" y="393750"/>
            <a:ext cx="7038900" cy="64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spotif</a:t>
            </a:r>
            <a:r>
              <a:rPr lang="de"/>
              <a:t>ys Request </a:t>
            </a:r>
            <a:endParaRPr sz="1800"/>
          </a:p>
        </p:txBody>
      </p:sp>
      <p:pic>
        <p:nvPicPr>
          <p:cNvPr id="229" name="Google Shape;229;p24" title="Spotify Logo.png"/>
          <p:cNvPicPr preferRelativeResize="0"/>
          <p:nvPr/>
        </p:nvPicPr>
        <p:blipFill>
          <a:blip r:embed="rId3">
            <a:alphaModFix/>
          </a:blip>
          <a:stretch>
            <a:fillRect/>
          </a:stretch>
        </p:blipFill>
        <p:spPr>
          <a:xfrm>
            <a:off x="7806775" y="309275"/>
            <a:ext cx="725375" cy="725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33" name="Shape 233"/>
        <p:cNvGrpSpPr/>
        <p:nvPr/>
      </p:nvGrpSpPr>
      <p:grpSpPr>
        <a:xfrm>
          <a:off x="0" y="0"/>
          <a:ext cx="0" cy="0"/>
          <a:chOff x="0" y="0"/>
          <a:chExt cx="0" cy="0"/>
        </a:xfrm>
      </p:grpSpPr>
      <p:sp>
        <p:nvSpPr>
          <p:cNvPr id="234" name="Google Shape;234;p25"/>
          <p:cNvSpPr txBox="1"/>
          <p:nvPr/>
        </p:nvSpPr>
        <p:spPr>
          <a:xfrm>
            <a:off x="1431025" y="1263450"/>
            <a:ext cx="6449400" cy="35073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Quarterly Granularity</a:t>
            </a:r>
            <a:endParaRPr b="1" sz="1800">
              <a:solidFill>
                <a:schemeClr val="lt1"/>
              </a:solidFill>
              <a:latin typeface="Lato"/>
              <a:ea typeface="Lato"/>
              <a:cs typeface="Lato"/>
              <a:sym typeface="Lato"/>
            </a:endParaRPr>
          </a:p>
          <a:p>
            <a:pPr indent="-342900" lvl="0" marL="457200" rtl="0" algn="l">
              <a:lnSpc>
                <a:spcPct val="150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17 columns and 26 Rows</a:t>
            </a:r>
            <a:endParaRPr b="1" sz="1800">
              <a:solidFill>
                <a:schemeClr val="lt1"/>
              </a:solidFill>
              <a:latin typeface="Lato"/>
              <a:ea typeface="Lato"/>
              <a:cs typeface="Lato"/>
              <a:sym typeface="Lato"/>
            </a:endParaRPr>
          </a:p>
          <a:p>
            <a:pPr indent="-384300" lvl="0" marL="450000" rtl="0" algn="l">
              <a:lnSpc>
                <a:spcPct val="150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One Row was removed</a:t>
            </a:r>
            <a:endParaRPr b="1" sz="1800">
              <a:solidFill>
                <a:schemeClr val="lt1"/>
              </a:solidFill>
              <a:latin typeface="Lato"/>
              <a:ea typeface="Lato"/>
              <a:cs typeface="Lato"/>
              <a:sym typeface="Lato"/>
            </a:endParaRPr>
          </a:p>
          <a:p>
            <a:pPr indent="-342900" lvl="0" marL="457200" rtl="0" algn="l">
              <a:lnSpc>
                <a:spcPct val="150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The Total columns were recalculated</a:t>
            </a:r>
            <a:endParaRPr b="1" sz="1800">
              <a:solidFill>
                <a:schemeClr val="lt1"/>
              </a:solidFill>
              <a:latin typeface="Lato"/>
              <a:ea typeface="Lato"/>
              <a:cs typeface="Lato"/>
              <a:sym typeface="Lato"/>
            </a:endParaRPr>
          </a:p>
          <a:p>
            <a:pPr indent="-342900" lvl="0" marL="457200" rtl="0" algn="l">
              <a:lnSpc>
                <a:spcPct val="150000"/>
              </a:lnSpc>
              <a:spcBef>
                <a:spcPts val="0"/>
              </a:spcBef>
              <a:spcAft>
                <a:spcPts val="0"/>
              </a:spcAft>
              <a:buClr>
                <a:schemeClr val="lt1"/>
              </a:buClr>
              <a:buSzPts val="1800"/>
              <a:buFont typeface="Lato"/>
              <a:buChar char="●"/>
            </a:pPr>
            <a:r>
              <a:rPr b="1" lang="de" sz="1800">
                <a:solidFill>
                  <a:schemeClr val="lt1"/>
                </a:solidFill>
                <a:latin typeface="Lato"/>
                <a:ea typeface="Lato"/>
                <a:cs typeface="Lato"/>
                <a:sym typeface="Lato"/>
              </a:rPr>
              <a:t>The Data had to be  unpivoted</a:t>
            </a:r>
            <a:endParaRPr b="1" sz="1800">
              <a:solidFill>
                <a:schemeClr val="lt1"/>
              </a:solidFill>
              <a:latin typeface="Lato"/>
              <a:ea typeface="Lato"/>
              <a:cs typeface="Lato"/>
              <a:sym typeface="Lato"/>
            </a:endParaRPr>
          </a:p>
        </p:txBody>
      </p:sp>
      <p:sp>
        <p:nvSpPr>
          <p:cNvPr id="235" name="Google Shape;235;p25"/>
          <p:cNvSpPr txBox="1"/>
          <p:nvPr>
            <p:ph type="title"/>
          </p:nvPr>
        </p:nvSpPr>
        <p:spPr>
          <a:xfrm>
            <a:off x="1297500" y="393750"/>
            <a:ext cx="7038900" cy="11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spotify Dataset</a:t>
            </a:r>
            <a:endParaRPr sz="1800"/>
          </a:p>
        </p:txBody>
      </p:sp>
      <p:sp>
        <p:nvSpPr>
          <p:cNvPr id="236" name="Google Shape;236;p25"/>
          <p:cNvSpPr/>
          <p:nvPr/>
        </p:nvSpPr>
        <p:spPr>
          <a:xfrm>
            <a:off x="5253925" y="4457700"/>
            <a:ext cx="1098300" cy="48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37" name="Google Shape;237;p25" title="Spotify Logo.png"/>
          <p:cNvPicPr preferRelativeResize="0"/>
          <p:nvPr/>
        </p:nvPicPr>
        <p:blipFill>
          <a:blip r:embed="rId3">
            <a:alphaModFix/>
          </a:blip>
          <a:stretch>
            <a:fillRect/>
          </a:stretch>
        </p:blipFill>
        <p:spPr>
          <a:xfrm>
            <a:off x="7806775" y="309275"/>
            <a:ext cx="725375" cy="725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41" name="Shape 241"/>
        <p:cNvGrpSpPr/>
        <p:nvPr/>
      </p:nvGrpSpPr>
      <p:grpSpPr>
        <a:xfrm>
          <a:off x="0" y="0"/>
          <a:ext cx="0" cy="0"/>
          <a:chOff x="0" y="0"/>
          <a:chExt cx="0" cy="0"/>
        </a:xfrm>
      </p:grpSpPr>
      <p:pic>
        <p:nvPicPr>
          <p:cNvPr id="242" name="Google Shape;242;p26"/>
          <p:cNvPicPr preferRelativeResize="0"/>
          <p:nvPr/>
        </p:nvPicPr>
        <p:blipFill>
          <a:blip r:embed="rId3">
            <a:alphaModFix/>
          </a:blip>
          <a:stretch>
            <a:fillRect/>
          </a:stretch>
        </p:blipFill>
        <p:spPr>
          <a:xfrm>
            <a:off x="1297500" y="1119150"/>
            <a:ext cx="6611874" cy="3583775"/>
          </a:xfrm>
          <a:prstGeom prst="rect">
            <a:avLst/>
          </a:prstGeom>
          <a:noFill/>
          <a:ln>
            <a:noFill/>
          </a:ln>
        </p:spPr>
      </p:pic>
      <p:sp>
        <p:nvSpPr>
          <p:cNvPr id="243" name="Google Shape;243;p26"/>
          <p:cNvSpPr txBox="1"/>
          <p:nvPr>
            <p:ph type="title"/>
          </p:nvPr>
        </p:nvSpPr>
        <p:spPr>
          <a:xfrm>
            <a:off x="1297500" y="393750"/>
            <a:ext cx="7038900" cy="72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Strategic Dashboard</a:t>
            </a:r>
            <a:endParaRPr sz="1800"/>
          </a:p>
        </p:txBody>
      </p:sp>
      <p:pic>
        <p:nvPicPr>
          <p:cNvPr id="244" name="Google Shape;244;p26" title="Spotify Logo.png"/>
          <p:cNvPicPr preferRelativeResize="0"/>
          <p:nvPr/>
        </p:nvPicPr>
        <p:blipFill>
          <a:blip r:embed="rId4">
            <a:alphaModFix/>
          </a:blip>
          <a:stretch>
            <a:fillRect/>
          </a:stretch>
        </p:blipFill>
        <p:spPr>
          <a:xfrm>
            <a:off x="8138575" y="183200"/>
            <a:ext cx="725375" cy="725375"/>
          </a:xfrm>
          <a:prstGeom prst="rect">
            <a:avLst/>
          </a:prstGeom>
          <a:noFill/>
          <a:ln>
            <a:noFill/>
          </a:ln>
        </p:spPr>
      </p:pic>
      <p:sp>
        <p:nvSpPr>
          <p:cNvPr id="245" name="Google Shape;245;p26"/>
          <p:cNvSpPr/>
          <p:nvPr/>
        </p:nvSpPr>
        <p:spPr>
          <a:xfrm>
            <a:off x="1297500" y="1590825"/>
            <a:ext cx="2643300" cy="30744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6" name="Google Shape;246;p26"/>
          <p:cNvSpPr/>
          <p:nvPr/>
        </p:nvSpPr>
        <p:spPr>
          <a:xfrm>
            <a:off x="3940800" y="1590825"/>
            <a:ext cx="3968700" cy="4776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7" name="Google Shape;247;p26"/>
          <p:cNvSpPr/>
          <p:nvPr/>
        </p:nvSpPr>
        <p:spPr>
          <a:xfrm>
            <a:off x="3940800" y="2068425"/>
            <a:ext cx="3968700" cy="25968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51" name="Shape 251"/>
        <p:cNvGrpSpPr/>
        <p:nvPr/>
      </p:nvGrpSpPr>
      <p:grpSpPr>
        <a:xfrm>
          <a:off x="0" y="0"/>
          <a:ext cx="0" cy="0"/>
          <a:chOff x="0" y="0"/>
          <a:chExt cx="0" cy="0"/>
        </a:xfrm>
      </p:grpSpPr>
      <p:pic>
        <p:nvPicPr>
          <p:cNvPr id="252" name="Google Shape;252;p27"/>
          <p:cNvPicPr preferRelativeResize="0"/>
          <p:nvPr/>
        </p:nvPicPr>
        <p:blipFill>
          <a:blip r:embed="rId3">
            <a:alphaModFix/>
          </a:blip>
          <a:stretch>
            <a:fillRect/>
          </a:stretch>
        </p:blipFill>
        <p:spPr>
          <a:xfrm>
            <a:off x="1280064" y="1138582"/>
            <a:ext cx="6761401" cy="3564438"/>
          </a:xfrm>
          <a:prstGeom prst="rect">
            <a:avLst/>
          </a:prstGeom>
          <a:noFill/>
          <a:ln>
            <a:noFill/>
          </a:ln>
        </p:spPr>
      </p:pic>
      <p:sp>
        <p:nvSpPr>
          <p:cNvPr id="253" name="Google Shape;253;p27"/>
          <p:cNvSpPr txBox="1"/>
          <p:nvPr>
            <p:ph type="title"/>
          </p:nvPr>
        </p:nvSpPr>
        <p:spPr>
          <a:xfrm>
            <a:off x="1297500" y="393750"/>
            <a:ext cx="7038900" cy="11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Sales Dashboard</a:t>
            </a:r>
            <a:endParaRPr sz="1800"/>
          </a:p>
        </p:txBody>
      </p:sp>
      <p:pic>
        <p:nvPicPr>
          <p:cNvPr id="254" name="Google Shape;254;p27" title="Spotify Logo.png"/>
          <p:cNvPicPr preferRelativeResize="0"/>
          <p:nvPr/>
        </p:nvPicPr>
        <p:blipFill>
          <a:blip r:embed="rId4">
            <a:alphaModFix/>
          </a:blip>
          <a:stretch>
            <a:fillRect/>
          </a:stretch>
        </p:blipFill>
        <p:spPr>
          <a:xfrm>
            <a:off x="8058900" y="169200"/>
            <a:ext cx="725375" cy="725375"/>
          </a:xfrm>
          <a:prstGeom prst="rect">
            <a:avLst/>
          </a:prstGeom>
          <a:noFill/>
          <a:ln>
            <a:noFill/>
          </a:ln>
        </p:spPr>
      </p:pic>
      <p:sp>
        <p:nvSpPr>
          <p:cNvPr id="255" name="Google Shape;255;p27"/>
          <p:cNvSpPr/>
          <p:nvPr/>
        </p:nvSpPr>
        <p:spPr>
          <a:xfrm>
            <a:off x="1297500" y="1550150"/>
            <a:ext cx="5795100" cy="15828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6" name="Google Shape;256;p27"/>
          <p:cNvSpPr/>
          <p:nvPr/>
        </p:nvSpPr>
        <p:spPr>
          <a:xfrm>
            <a:off x="1297375" y="3132950"/>
            <a:ext cx="6761400" cy="15828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7" name="Google Shape;257;p27"/>
          <p:cNvSpPr/>
          <p:nvPr/>
        </p:nvSpPr>
        <p:spPr>
          <a:xfrm>
            <a:off x="7162425" y="1550150"/>
            <a:ext cx="896400" cy="15828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61" name="Shape 261"/>
        <p:cNvGrpSpPr/>
        <p:nvPr/>
      </p:nvGrpSpPr>
      <p:grpSpPr>
        <a:xfrm>
          <a:off x="0" y="0"/>
          <a:ext cx="0" cy="0"/>
          <a:chOff x="0" y="0"/>
          <a:chExt cx="0" cy="0"/>
        </a:xfrm>
      </p:grpSpPr>
      <p:sp>
        <p:nvSpPr>
          <p:cNvPr id="262" name="Google Shape;262;p28"/>
          <p:cNvSpPr txBox="1"/>
          <p:nvPr>
            <p:ph type="title"/>
          </p:nvPr>
        </p:nvSpPr>
        <p:spPr>
          <a:xfrm>
            <a:off x="1297500" y="393750"/>
            <a:ext cx="7038900" cy="11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Operational Dashboard</a:t>
            </a:r>
            <a:endParaRPr sz="1800"/>
          </a:p>
        </p:txBody>
      </p:sp>
      <p:sp>
        <p:nvSpPr>
          <p:cNvPr id="263" name="Google Shape;263;p28"/>
          <p:cNvSpPr/>
          <p:nvPr/>
        </p:nvSpPr>
        <p:spPr>
          <a:xfrm>
            <a:off x="5253925" y="4457700"/>
            <a:ext cx="1098300" cy="48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64" name="Google Shape;264;p28" title="Spotify Logo.png"/>
          <p:cNvPicPr preferRelativeResize="0"/>
          <p:nvPr/>
        </p:nvPicPr>
        <p:blipFill>
          <a:blip r:embed="rId3">
            <a:alphaModFix/>
          </a:blip>
          <a:stretch>
            <a:fillRect/>
          </a:stretch>
        </p:blipFill>
        <p:spPr>
          <a:xfrm>
            <a:off x="8086925" y="169200"/>
            <a:ext cx="725375" cy="725375"/>
          </a:xfrm>
          <a:prstGeom prst="rect">
            <a:avLst/>
          </a:prstGeom>
          <a:noFill/>
          <a:ln>
            <a:noFill/>
          </a:ln>
        </p:spPr>
      </p:pic>
      <p:pic>
        <p:nvPicPr>
          <p:cNvPr id="265" name="Google Shape;265;p28"/>
          <p:cNvPicPr preferRelativeResize="0"/>
          <p:nvPr/>
        </p:nvPicPr>
        <p:blipFill>
          <a:blip r:embed="rId4">
            <a:alphaModFix/>
          </a:blip>
          <a:stretch>
            <a:fillRect/>
          </a:stretch>
        </p:blipFill>
        <p:spPr>
          <a:xfrm>
            <a:off x="1297500" y="1047700"/>
            <a:ext cx="6915474" cy="3784750"/>
          </a:xfrm>
          <a:prstGeom prst="rect">
            <a:avLst/>
          </a:prstGeom>
          <a:noFill/>
          <a:ln>
            <a:noFill/>
          </a:ln>
        </p:spPr>
      </p:pic>
      <p:sp>
        <p:nvSpPr>
          <p:cNvPr id="266" name="Google Shape;266;p28"/>
          <p:cNvSpPr/>
          <p:nvPr/>
        </p:nvSpPr>
        <p:spPr>
          <a:xfrm>
            <a:off x="1297500" y="1550150"/>
            <a:ext cx="5976900" cy="15828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7" name="Google Shape;267;p28"/>
          <p:cNvSpPr/>
          <p:nvPr/>
        </p:nvSpPr>
        <p:spPr>
          <a:xfrm>
            <a:off x="7274400" y="1550150"/>
            <a:ext cx="938700" cy="15828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8" name="Google Shape;268;p28"/>
          <p:cNvSpPr/>
          <p:nvPr/>
        </p:nvSpPr>
        <p:spPr>
          <a:xfrm>
            <a:off x="1297500" y="3132950"/>
            <a:ext cx="5947200" cy="16527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 name="Google Shape;269;p28"/>
          <p:cNvSpPr/>
          <p:nvPr/>
        </p:nvSpPr>
        <p:spPr>
          <a:xfrm>
            <a:off x="7274291" y="3160953"/>
            <a:ext cx="938700" cy="15828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par>
                          <p:cTn fill="hold">
                            <p:stCondLst>
                              <p:cond delay="0"/>
                            </p:stCondLst>
                            <p:childTnLst>
                              <p:par>
                                <p:cTn fill="hold" nodeType="afterEffect" presetClass="exit" presetID="1" presetSubtype="0">
                                  <p:stCondLst>
                                    <p:cond delay="0"/>
                                  </p:stCondLst>
                                  <p:childTnLst>
                                    <p:set>
                                      <p:cBhvr>
                                        <p:cTn dur="1" fill="hold">
                                          <p:stCondLst>
                                            <p:cond delay="0"/>
                                          </p:stCondLst>
                                        </p:cTn>
                                        <p:tgtEl>
                                          <p:spTgt spid="2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6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73" name="Shape 273"/>
        <p:cNvGrpSpPr/>
        <p:nvPr/>
      </p:nvGrpSpPr>
      <p:grpSpPr>
        <a:xfrm>
          <a:off x="0" y="0"/>
          <a:ext cx="0" cy="0"/>
          <a:chOff x="0" y="0"/>
          <a:chExt cx="0" cy="0"/>
        </a:xfrm>
      </p:grpSpPr>
      <p:sp>
        <p:nvSpPr>
          <p:cNvPr id="274" name="Google Shape;274;p29"/>
          <p:cNvSpPr txBox="1"/>
          <p:nvPr>
            <p:ph type="title"/>
          </p:nvPr>
        </p:nvSpPr>
        <p:spPr>
          <a:xfrm>
            <a:off x="1297500" y="393750"/>
            <a:ext cx="7038900" cy="11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Recommendations</a:t>
            </a:r>
            <a:endParaRPr sz="1800"/>
          </a:p>
        </p:txBody>
      </p:sp>
      <p:sp>
        <p:nvSpPr>
          <p:cNvPr id="275" name="Google Shape;275;p29"/>
          <p:cNvSpPr/>
          <p:nvPr/>
        </p:nvSpPr>
        <p:spPr>
          <a:xfrm>
            <a:off x="5253925" y="4457700"/>
            <a:ext cx="1098300" cy="48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 name="Google Shape;276;p29"/>
          <p:cNvSpPr txBox="1"/>
          <p:nvPr/>
        </p:nvSpPr>
        <p:spPr>
          <a:xfrm>
            <a:off x="1431025" y="1054229"/>
            <a:ext cx="6449400" cy="3856800"/>
          </a:xfrm>
          <a:prstGeom prst="rect">
            <a:avLst/>
          </a:prstGeom>
          <a:noFill/>
          <a:ln>
            <a:noFill/>
          </a:ln>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chemeClr val="lt1"/>
              </a:buClr>
              <a:buSzPts val="1700"/>
              <a:buFont typeface="Lato"/>
              <a:buChar char="●"/>
            </a:pPr>
            <a:r>
              <a:rPr b="1" lang="de" sz="1700">
                <a:solidFill>
                  <a:schemeClr val="lt1"/>
                </a:solidFill>
                <a:latin typeface="Lato"/>
                <a:ea typeface="Lato"/>
                <a:cs typeface="Lato"/>
                <a:sym typeface="Lato"/>
              </a:rPr>
              <a:t>The </a:t>
            </a:r>
            <a:r>
              <a:rPr b="1" lang="de" sz="1700">
                <a:solidFill>
                  <a:schemeClr val="lt1"/>
                </a:solidFill>
                <a:latin typeface="Lato"/>
                <a:ea typeface="Lato"/>
                <a:cs typeface="Lato"/>
                <a:sym typeface="Lato"/>
              </a:rPr>
              <a:t>negative trend in the growth of Premium MAUs  lies since Q2_2020 under the AVG growth rate. Define a market target growth rate to be able to compare the current growth rate .</a:t>
            </a:r>
            <a:endParaRPr b="1" sz="1700">
              <a:solidFill>
                <a:schemeClr val="lt1"/>
              </a:solidFill>
              <a:latin typeface="Lato"/>
              <a:ea typeface="Lato"/>
              <a:cs typeface="Lato"/>
              <a:sym typeface="Lato"/>
            </a:endParaRPr>
          </a:p>
          <a:p>
            <a:pPr indent="-336550" lvl="0" marL="457200" rtl="0" algn="l">
              <a:lnSpc>
                <a:spcPct val="100000"/>
              </a:lnSpc>
              <a:spcBef>
                <a:spcPts val="0"/>
              </a:spcBef>
              <a:spcAft>
                <a:spcPts val="0"/>
              </a:spcAft>
              <a:buClr>
                <a:schemeClr val="lt1"/>
              </a:buClr>
              <a:buSzPts val="1700"/>
              <a:buFont typeface="Lato"/>
              <a:buChar char="●"/>
            </a:pPr>
            <a:r>
              <a:rPr b="1" lang="de" sz="1700">
                <a:solidFill>
                  <a:schemeClr val="lt1"/>
                </a:solidFill>
                <a:latin typeface="Lato"/>
                <a:ea typeface="Lato"/>
                <a:cs typeface="Lato"/>
                <a:sym typeface="Lato"/>
              </a:rPr>
              <a:t>Be aware of the drop in Premium ARPU in Q1_2023, the data shows a similar drop in Q1_2020 and </a:t>
            </a:r>
            <a:r>
              <a:rPr b="1" lang="de" sz="1700">
                <a:solidFill>
                  <a:schemeClr val="lt1"/>
                </a:solidFill>
                <a:latin typeface="Lato"/>
                <a:ea typeface="Lato"/>
                <a:cs typeface="Lato"/>
                <a:sym typeface="Lato"/>
              </a:rPr>
              <a:t>remained</a:t>
            </a:r>
            <a:r>
              <a:rPr b="1" lang="de" sz="1700">
                <a:solidFill>
                  <a:schemeClr val="lt1"/>
                </a:solidFill>
                <a:latin typeface="Lato"/>
                <a:ea typeface="Lato"/>
                <a:cs typeface="Lato"/>
                <a:sym typeface="Lato"/>
              </a:rPr>
              <a:t> for two years. </a:t>
            </a:r>
            <a:endParaRPr b="1" sz="1700">
              <a:solidFill>
                <a:schemeClr val="lt1"/>
              </a:solidFill>
              <a:latin typeface="Lato"/>
              <a:ea typeface="Lato"/>
              <a:cs typeface="Lato"/>
              <a:sym typeface="Lato"/>
            </a:endParaRPr>
          </a:p>
          <a:p>
            <a:pPr indent="0" lvl="0" marL="0" rtl="0" algn="l">
              <a:lnSpc>
                <a:spcPct val="100000"/>
              </a:lnSpc>
              <a:spcBef>
                <a:spcPts val="0"/>
              </a:spcBef>
              <a:spcAft>
                <a:spcPts val="0"/>
              </a:spcAft>
              <a:buNone/>
            </a:pPr>
            <a:r>
              <a:rPr b="1" lang="de" sz="1700">
                <a:solidFill>
                  <a:schemeClr val="lt1"/>
                </a:solidFill>
                <a:latin typeface="Lato"/>
                <a:ea typeface="Lato"/>
                <a:cs typeface="Lato"/>
                <a:sym typeface="Lato"/>
              </a:rPr>
              <a:t>The combined drop in growth rate and Premium ARPU could mean that the business is at a turning point towards a decline.</a:t>
            </a:r>
            <a:endParaRPr b="1" sz="1700">
              <a:solidFill>
                <a:schemeClr val="lt1"/>
              </a:solidFill>
              <a:latin typeface="Lato"/>
              <a:ea typeface="Lato"/>
              <a:cs typeface="Lato"/>
              <a:sym typeface="Lato"/>
            </a:endParaRPr>
          </a:p>
          <a:p>
            <a:pPr indent="0" lvl="0" marL="0" rtl="0" algn="l">
              <a:lnSpc>
                <a:spcPct val="100000"/>
              </a:lnSpc>
              <a:spcBef>
                <a:spcPts val="0"/>
              </a:spcBef>
              <a:spcAft>
                <a:spcPts val="0"/>
              </a:spcAft>
              <a:buNone/>
            </a:pPr>
            <a:r>
              <a:t/>
            </a:r>
            <a:endParaRPr b="1" sz="1700">
              <a:solidFill>
                <a:schemeClr val="lt1"/>
              </a:solidFill>
              <a:latin typeface="Lato"/>
              <a:ea typeface="Lato"/>
              <a:cs typeface="Lato"/>
              <a:sym typeface="Lato"/>
            </a:endParaRPr>
          </a:p>
          <a:p>
            <a:pPr indent="-336550" lvl="0" marL="457200" rtl="0" algn="l">
              <a:lnSpc>
                <a:spcPct val="100000"/>
              </a:lnSpc>
              <a:spcBef>
                <a:spcPts val="0"/>
              </a:spcBef>
              <a:spcAft>
                <a:spcPts val="0"/>
              </a:spcAft>
              <a:buClr>
                <a:schemeClr val="lt1"/>
              </a:buClr>
              <a:buSzPts val="1700"/>
              <a:buFont typeface="Lato"/>
              <a:buChar char="●"/>
            </a:pPr>
            <a:r>
              <a:rPr b="1" lang="de" sz="1700">
                <a:solidFill>
                  <a:schemeClr val="lt1"/>
                </a:solidFill>
                <a:latin typeface="Lato"/>
                <a:ea typeface="Lato"/>
                <a:cs typeface="Lato"/>
                <a:sym typeface="Lato"/>
              </a:rPr>
              <a:t>As the Ad Cost of Revenue has a high rate of increase over the last three years, it is crucial to understand the underlying causes and mitigate this sharp rise.</a:t>
            </a:r>
            <a:endParaRPr b="1" sz="1700">
              <a:solidFill>
                <a:schemeClr val="lt1"/>
              </a:solidFill>
              <a:latin typeface="Lato"/>
              <a:ea typeface="Lato"/>
              <a:cs typeface="Lato"/>
              <a:sym typeface="Lato"/>
            </a:endParaRPr>
          </a:p>
        </p:txBody>
      </p:sp>
      <p:pic>
        <p:nvPicPr>
          <p:cNvPr id="277" name="Google Shape;277;p29" title="Spotify Logo.png"/>
          <p:cNvPicPr preferRelativeResize="0"/>
          <p:nvPr/>
        </p:nvPicPr>
        <p:blipFill>
          <a:blip r:embed="rId3">
            <a:alphaModFix/>
          </a:blip>
          <a:stretch>
            <a:fillRect/>
          </a:stretch>
        </p:blipFill>
        <p:spPr>
          <a:xfrm>
            <a:off x="8086925" y="169200"/>
            <a:ext cx="725375" cy="725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281" name="Shape 281"/>
        <p:cNvGrpSpPr/>
        <p:nvPr/>
      </p:nvGrpSpPr>
      <p:grpSpPr>
        <a:xfrm>
          <a:off x="0" y="0"/>
          <a:ext cx="0" cy="0"/>
          <a:chOff x="0" y="0"/>
          <a:chExt cx="0" cy="0"/>
        </a:xfrm>
      </p:grpSpPr>
      <p:sp>
        <p:nvSpPr>
          <p:cNvPr id="282" name="Google Shape;282;p30"/>
          <p:cNvSpPr txBox="1"/>
          <p:nvPr>
            <p:ph type="title"/>
          </p:nvPr>
        </p:nvSpPr>
        <p:spPr>
          <a:xfrm>
            <a:off x="3804450" y="2181150"/>
            <a:ext cx="1535100" cy="78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de" sz="2960"/>
              <a:t>Q&amp;A</a:t>
            </a:r>
            <a:endParaRPr b="1" sz="2960"/>
          </a:p>
        </p:txBody>
      </p:sp>
      <p:sp>
        <p:nvSpPr>
          <p:cNvPr id="283" name="Google Shape;283;p30"/>
          <p:cNvSpPr/>
          <p:nvPr/>
        </p:nvSpPr>
        <p:spPr>
          <a:xfrm>
            <a:off x="5253925" y="4457700"/>
            <a:ext cx="1098300" cy="48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84" name="Google Shape;284;p30" title="Spotify Logo.png"/>
          <p:cNvPicPr preferRelativeResize="0"/>
          <p:nvPr/>
        </p:nvPicPr>
        <p:blipFill>
          <a:blip r:embed="rId3">
            <a:alphaModFix/>
          </a:blip>
          <a:stretch>
            <a:fillRect/>
          </a:stretch>
        </p:blipFill>
        <p:spPr>
          <a:xfrm>
            <a:off x="8086925" y="169200"/>
            <a:ext cx="725375" cy="725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